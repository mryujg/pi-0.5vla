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059ef0071b942f4" /><Relationship Type="http://schemas.openxmlformats.org/officeDocument/2006/relationships/extended-properties" Target="/docProps/app.xml" Id="Re868dc35cd354eff" /><Relationship Type="http://schemas.openxmlformats.org/officeDocument/2006/relationships/officeDocument" Target="/ppt/presentation.xml" Id="Re1f3958beb5d4a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aed09ebfaa49f6"/>
  </p:sldMasterIdLst>
  <p:notesMasterIdLst>
    <p:notesMasterId xmlns:r="http://schemas.openxmlformats.org/officeDocument/2006/relationships" r:id="Rfdb16772e1bd47f3"/>
  </p:notesMasterIdLst>
  <p:sldIdLst>
    <p:sldId xmlns:r="http://schemas.openxmlformats.org/officeDocument/2006/relationships" id="256" r:id="Ra04b138fc7614cae"/>
    <p:sldId xmlns:r="http://schemas.openxmlformats.org/officeDocument/2006/relationships" id="257" r:id="R91000f93d57d4c5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9938bba99e4cc6" /><Relationship Type="http://schemas.openxmlformats.org/officeDocument/2006/relationships/slideMaster" Target="/ppt/slideMasters/slideMaster1.xml" Id="R69aed09ebfaa49f6" /><Relationship Type="http://schemas.openxmlformats.org/officeDocument/2006/relationships/notesMaster" Target="/ppt/notesMasters/notesMaster1.xml" Id="Rfdb16772e1bd47f3" /><Relationship Type="http://schemas.openxmlformats.org/officeDocument/2006/relationships/presProps" Target="/ppt/presProps.xml" Id="R27e7dee60b0b4f6f" /><Relationship Type="http://schemas.openxmlformats.org/officeDocument/2006/relationships/tableStyles" Target="/ppt/tableStyles.xml" Id="Reb2ead3a838841f5" /><Relationship Type="http://schemas.openxmlformats.org/officeDocument/2006/relationships/slide" Target="/ppt/slides/slide1.xml" Id="Ra04b138fc7614cae" /><Relationship Type="http://schemas.openxmlformats.org/officeDocument/2006/relationships/slide" Target="/ppt/slides/slide2.xml" Id="R91000f93d57d4c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104fe8b9c549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5bc8083d1847d0" /><Relationship Type="http://schemas.openxmlformats.org/officeDocument/2006/relationships/notesMaster" Target="/ppt/notesMasters/notesMaster1.xml" Id="Raca45402110442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7b09f89db6549de" /><Relationship Type="http://schemas.openxmlformats.org/officeDocument/2006/relationships/notesMaster" Target="/ppt/notesMasters/notesMaster1.xml" Id="Rb915923076974c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对象为 ECO65+ZhiXing。正式数据覆盖 Spatial 任务 0、2、3、5、6，189 条训练、39 条验证，共 170724 动作帧与 341448 张双视角图像。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本轮官方 pi05_libero 保持 discrete_state_input=False，状态保存在数据接口中，模型条件为图像和语言。仅语言/动作分支 LoRA 更新，视觉与全部非 LoRA 参数保持不变。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正式训练 10000 步，约 122.7 分钟。验证损失基座 0.30261684960020435，第10000步 0.020352864245139376，下降百分比按原始值计算，图表数据保留8位小数。重载参数字节相同，同噪声预测误差0，续训10001步未覆盖原权重。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四组采用相同原生随机 reset 对象初态，10任务各20次，220步主预算。此协议不是官方.pruned初态基准，手动渲染同时显示碰撞与视觉网格。每组25次初态拒绝保留分母，本批最高可能成功率87.5%。微调已训练与未训练任务分别0/100，合法初态中0/175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教师最早成功需528步，微调task06某次延长诊断559步达到原生目标，但不计220步主成功，也未替代释放稳定认证。工作区伸直、渲染差异等是后续开发诊断，不是已证明的唯一根因。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来源：/Users/yuyu/Documents/openpi/agent-work-space/5-final-train/采集完成与转换恢复记录_20261007_r1.md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来源：/Users/yuyu/Documents/openpi/agent-work-space/5-final-train/π0.5微调完成记录_20261008_r1.md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来源：/Users/yuyu/Documents/openpi/agent-work-space/5-final-train/闭环测试恢复与完成记录_20261008_r2.md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来源：/Users/yuyu/Documents/openpi/agent-work-space/5-final-train/当前版本与文件索引_20261008_r2.md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数值来源：/Users/yuyu/Documents/openpi/agent-work-space/project-summary-evidence/summary_20261008_r1/project_facts_readback.json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本页实验对象为原始 pi05_libero 基座权重和 Panda+PandaGripper，未使用 ECO65+ZhiXing 的第10000步微调权重。29/30不能代表该机械臂组合适配通过。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TensorRT 10.13.3.9。三模块为视觉编码、prefix图像/语言处理及动作专家action_step，完整执行10轮去噪。旧prefix量化覆盖121个实际可达Linear，全Linear量化覆盖163视觉+121prefix+167动作专家=451。其他参数保留浮点表示，量化压缩权重，BF16激活/GEMM，不是全模型4bit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A100五组每组Spatial十任务各3个相同官方初态，共150次，全部视频完整解码。单模型驻留整卡资源记录。原始PyTorch本轮A100未测，旧4090数字不能混入此表。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B按10^9字节计算。整卡NVML峰值含加载、预热、128观测回归与闭环，和单进程显存不同。请求P99来自20次预热后的128个相同观测串行请求，含请求构造、HTTP、解码、预处理、三模块10轮去噪、反归一化和响应解码，不含相机采集、base64编码与OSMesa渲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GPTQ的两组数值门槛未通过，不能以29/30替代数值验收。AWQ数值门槛通过但闭环不到27/30。尚无候选同时满足全部门槛，实际8GB设备、两小时、正式200次与实物未完成验收。全量化较prefix AWQ显存下降18.5%、P99上升14.9%，较prefix GPTQ显存下降17.8%、P99上升8.6%。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来源：/Users/yuyu/Documents/openpi/agent-work-space/6-model-inference/versions/a100_comparison_20261008_r1/A100模型综合对比.md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来源：/Users/yuyu/Documents/openpi/agent-work-space/6-model-inference/versions/a100_closedloop_20261008_r1/A100统一闭环测试记录.md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来源：/Users/yuyu/Documents/openpi/agent-work-space/6-model-inference/versions/trt_t0_t2_20261007_r1/T0-T2实施记录.md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来源：/Users/yuyu/Documents/openpi/agent-work-space/6-model-inference/versions/trt_t3_20261007_r1/T3实施记录.md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来源：/Users/yuyu/Documents/openpi/agent-work-space/6-model-inference/versions/trt_full4_20261007_r1/全Linear量化快速验证结果.md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5735bdc61c425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5480766b324e14" /><Relationship Type="http://schemas.openxmlformats.org/officeDocument/2006/relationships/slideLayout" Target="/ppt/slideLayouts/slideLayout1.xml" Id="Rb38a2acc39454cd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8a2acc39454cd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06fd78f89d4002" /><Relationship Type="http://schemas.openxmlformats.org/officeDocument/2006/relationships/chart" Target="/ppt/slides/charts/chart1.xml" Id="R121ac991f5fe472d" /><Relationship Type="http://schemas.openxmlformats.org/officeDocument/2006/relationships/notesSlide" Target="/ppt/notesSlides/notesSlide1.xml" Id="Rc087a21b7fe34f4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f86ccfde234747" /><Relationship Type="http://schemas.openxmlformats.org/officeDocument/2006/relationships/notesSlide" Target="/ppt/notesSlides/notesSlide2.xml" Id="R9f93fb60ae494354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5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rPr>
              <a:t>五任务等权验证损失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42C43"/>
              </a:solidFill>
              <a:latin typeface="Hiragino Sans GB"/>
              <a:ea typeface="Hiragino Sans GB"/>
              <a:cs typeface="Hiragino Sans GB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验证损失</c:v>
          </c:tx>
          <c:spPr>
            <a:ln xmlns:a="http://schemas.openxmlformats.org/drawingml/2006/main" w="28575">
              <a:solidFill>
                <a:srgbClr val="166790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166790"/>
              </a:solidFill>
            </c:spPr>
          </c:marke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350" b="1">
                        <a:solidFill>
                          <a:srgbClr val="142C43"/>
                        </a:solidFill>
                        <a:latin typeface="Hiragino Sans GB"/>
                        <a:ea typeface="Hiragino Sans GB"/>
                        <a:cs typeface="Hiragino Sans GB"/>
                      </a:rPr>
                      <a:t>0.3026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350" b="1">
                      <a:solidFill>
                        <a:srgbClr val="142C43"/>
                      </a:solidFill>
                      <a:latin typeface="Hiragino Sans GB"/>
                      <a:ea typeface="Hiragino Sans GB"/>
                      <a:cs typeface="Hiragino Sans GB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350" b="1">
                        <a:solidFill>
                          <a:srgbClr val="142C43"/>
                        </a:solidFill>
                        <a:latin typeface="Hiragino Sans GB"/>
                        <a:ea typeface="Hiragino Sans GB"/>
                        <a:cs typeface="Hiragino Sans GB"/>
                      </a:rPr>
                      <a:t/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350" b="1">
                      <a:solidFill>
                        <a:srgbClr val="142C43"/>
                      </a:solidFill>
                      <a:latin typeface="Hiragino Sans GB"/>
                      <a:ea typeface="Hiragino Sans GB"/>
                      <a:cs typeface="Hiragino Sans GB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350" b="1">
                        <a:solidFill>
                          <a:srgbClr val="142C43"/>
                        </a:solidFill>
                        <a:latin typeface="Hiragino Sans GB"/>
                        <a:ea typeface="Hiragino Sans GB"/>
                        <a:cs typeface="Hiragino Sans GB"/>
                      </a:rPr>
                      <a:t/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350" b="1">
                      <a:solidFill>
                        <a:srgbClr val="142C43"/>
                      </a:solidFill>
                      <a:latin typeface="Hiragino Sans GB"/>
                      <a:ea typeface="Hiragino Sans GB"/>
                      <a:cs typeface="Hiragino Sans GB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350" b="1">
                        <a:solidFill>
                          <a:srgbClr val="142C43"/>
                        </a:solidFill>
                        <a:latin typeface="Hiragino Sans GB"/>
                        <a:ea typeface="Hiragino Sans GB"/>
                        <a:cs typeface="Hiragino Sans GB"/>
                      </a:rPr>
                      <a:t/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350" b="1">
                      <a:solidFill>
                        <a:srgbClr val="142C43"/>
                      </a:solidFill>
                      <a:latin typeface="Hiragino Sans GB"/>
                      <a:ea typeface="Hiragino Sans GB"/>
                      <a:cs typeface="Hiragino Sans GB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350" b="1">
                        <a:solidFill>
                          <a:srgbClr val="142C43"/>
                        </a:solidFill>
                        <a:latin typeface="Hiragino Sans GB"/>
                        <a:ea typeface="Hiragino Sans GB"/>
                        <a:cs typeface="Hiragino Sans GB"/>
                      </a:rPr>
                      <a:t/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350" b="1">
                      <a:solidFill>
                        <a:srgbClr val="142C43"/>
                      </a:solidFill>
                      <a:latin typeface="Hiragino Sans GB"/>
                      <a:ea typeface="Hiragino Sans GB"/>
                      <a:cs typeface="Hiragino Sans GB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350" b="1">
                        <a:solidFill>
                          <a:srgbClr val="142C43"/>
                        </a:solidFill>
                        <a:latin typeface="Hiragino Sans GB"/>
                        <a:ea typeface="Hiragino Sans GB"/>
                        <a:cs typeface="Hiragino Sans GB"/>
                      </a:rPr>
                      <a:t>0.02035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350" b="1">
                      <a:solidFill>
                        <a:srgbClr val="142C43"/>
                      </a:solidFill>
                      <a:latin typeface="Hiragino Sans GB"/>
                      <a:ea typeface="Hiragino Sans GB"/>
                      <a:cs typeface="Hiragino Sans GB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350">
                    <a:solidFill>
                      <a:srgbClr val="142C43"/>
                    </a:solidFill>
                    <a:latin typeface="Hiragino Sans GB"/>
                    <a:ea typeface="Hiragino Sans GB"/>
                    <a:cs typeface="Hiragino Sans GB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Data'!$A$2:$A$7</c:f>
              <c:strCache>
                <c:ptCount val="6"/>
                <c:pt idx="0">
                  <c:v>基座</c:v>
                </c:pt>
                <c:pt idx="1">
                  <c:v>2000</c:v>
                </c:pt>
                <c:pt idx="2">
                  <c:v>4000</c:v>
                </c:pt>
                <c:pt idx="3">
                  <c:v>6000</c:v>
                </c:pt>
                <c:pt idx="4">
                  <c:v>8000</c:v>
                </c:pt>
                <c:pt idx="5">
                  <c:v>10000</c:v>
                </c:pt>
              </c:strCache>
            </c:strRef>
          </c:cat>
          <c:val>
            <c:numRef>
              <c:f>'Chart Data'!$B$2:$B$7</c:f>
              <c:numCache>
                <c:formatCode>0.0</c:formatCode>
                <c:ptCount val="6"/>
                <c:pt idx="0">
                  <c:v>0.30261685</c:v>
                </c:pt>
                <c:pt idx="1">
                  <c:v>0.03766954</c:v>
                </c:pt>
                <c:pt idx="2">
                  <c:v>0.02965985</c:v>
                </c:pt>
                <c:pt idx="3">
                  <c:v>0.02512903</c:v>
                </c:pt>
                <c:pt idx="4">
                  <c:v>0.02154031</c:v>
                </c:pt>
                <c:pt idx="5">
                  <c:v>0.02035286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142C43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0E7E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D6E7A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catAx>
      <c:valAx>
        <c:axId val="48672768"/>
        <c:scaling>
          <c:orientation val="minMax"/>
          <c:max val="0.3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0E7EC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D6E7A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4D132D-0531-4AE1-9193-CD2C037C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11010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rPr>
              <a:t>ECO65 + ZhiXing 的 LoRA 训练与验证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E05685-86A4-4710-B63F-CC59BED0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D6E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5D6E7A"/>
                </a:solidFill>
                <a:latin typeface="Hiragino Sans GB"/>
                <a:ea typeface="Hiragino Sans GB"/>
                <a:cs typeface="Hiragino Sans GB"/>
              </a:rPr>
              <a:t>LIBERO Spatial 五任务示范与正式闭环对照，统计截至 2026-10-08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5190E9-FB0B-4461-9098-38AF6A4AF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4191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679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66790"/>
                </a:solidFill>
                <a:latin typeface="Hiragino Sans GB"/>
                <a:ea typeface="Hiragino Sans GB"/>
                <a:cs typeface="Hiragino Sans GB"/>
              </a:rPr>
              <a:t>训练实现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1EAE49-D29A-47E6-8DC4-4FE44AFAB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rPr>
              <a:t>数据准备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6F70BB-BD9F-4FEE-8D42-EFF48D01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43243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rPr>
              <a:t>228 条示范，170,724 动作帧</a:t>
            </a:r>
          </a:p>
          <a:p xmlns:a="http://schemas.openxmlformats.org/drawingml/2006/main">
            <a:pPr>
              <a:def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rPr>
              <a:t>189 训练 / 39 验证，双视角 RGB</a:t>
            </a:r>
          </a:p>
          <a:p xmlns:a="http://schemas.openxmlformats.org/drawingml/2006/main">
            <a:pPr>
              <a:def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rPr>
              <a:t>LeRobot 转换与全帧读回通过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7D8E18-2E5C-4D27-9C9A-A81BA3F0D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rPr>
              <a:t>LoRA 微调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463723-FB4F-47D6-AAFF-2BC71D843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43243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rPr>
              <a:t>π0.5 基座，batch 4，horizon 10</a:t>
            </a:r>
          </a:p>
          <a:p xmlns:a="http://schemas.openxmlformats.org/drawingml/2006/main">
            <a:pPr>
              <a:def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rPr>
              <a:t>只更新 LoRA，视觉及其余参数冻结</a:t>
            </a:r>
          </a:p>
          <a:p xmlns:a="http://schemas.openxmlformats.org/drawingml/2006/main">
            <a:pPr>
              <a:def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rPr>
              <a:t>五任务均衡采样，训练 10,000 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1E2382-5FD9-4E50-A173-51C76B36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rPr>
              <a:t>检查点验证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544CC1-05B1-4C09-B069-F61DE49D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4324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rPr>
              <a:t>独立重载预测误差 0</a:t>
            </a:r>
          </a:p>
          <a:p xmlns:a="http://schemas.openxmlformats.org/drawingml/2006/main">
            <a:pPr>
              <a:def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rPr>
              <a:t>成功恢复执行第 10001 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B4B100-FAB1-4DC7-9F07-39482619C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571625"/>
            <a:ext cx="6362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679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66790"/>
                </a:solidFill>
                <a:latin typeface="Hiragino Sans GB"/>
                <a:ea typeface="Hiragino Sans GB"/>
                <a:cs typeface="Hiragino Sans GB"/>
              </a:rPr>
              <a:t>训练结果</a:t>
            </a:r>
          </a:p>
        </p:txBody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5191125" y="1981200"/>
          <a:ext xmlns:a="http://schemas.openxmlformats.org/drawingml/2006/main" cx="6438900" cy="18954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21ac991f5fe472d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73BA25-A011-4D5D-8BCD-1183C01D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914775"/>
            <a:ext cx="634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rPr>
              <a:t>十任务闭环对照，每组 200 次，主预算 220 步</a:t>
            </a:r>
          </a:p>
        </p:txBody>
      </p:sp>
      <p:graphicFrame>
        <p:nvGraphicFramePr>
          <p:cNvPr id="28" name=""/>
          <p:cNvGraphicFramePr/>
          <p:nvPr/>
        </p:nvGraphicFramePr>
        <p:xfrm>
          <a:off xmlns:a="http://schemas.openxmlformats.org/drawingml/2006/main" x="5219700" y="4295775"/>
          <a:ext xmlns:a="http://schemas.openxmlformats.org/drawingml/2006/main" cx="6362700" cy="16287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781425"/>
                <a:gridCol w="1228725"/>
                <a:gridCol w="1352550"/>
              </a:tblGrid>
              <a:tr h="32575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机器人与模型</a:t>
                      </a:r>
                    </a:p>
                  </a:txBody>
                  <a:tcPr marL="104775" marR="85725" marT="57150" marB="57150">
                    <a:solidFill>
                      <a:srgbClr val="EDF3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成功/200</a:t>
                      </a:r>
                    </a:p>
                  </a:txBody>
                  <a:tcPr marL="104775" marR="85725" marT="57150" marB="57150">
                    <a:solidFill>
                      <a:srgbClr val="EDF3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成功率</a:t>
                      </a:r>
                    </a:p>
                  </a:txBody>
                  <a:tcPr marL="104775" marR="85725" marT="57150" marB="57150">
                    <a:solidFill>
                      <a:srgbClr val="EDF3F7"/>
                    </a:solidFill>
                  </a:tcPr>
                </a:tc>
              </a:tr>
              <a:tr h="32575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A332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ECO65 + ZhiXing LoRA</a:t>
                      </a:r>
                    </a:p>
                  </a:txBody>
                  <a:tcPr marL="104775" marR="85725" marT="57150" marB="571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A332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</a:t>
                      </a:r>
                    </a:p>
                  </a:txBody>
                  <a:tcPr marL="104775" marR="85725" marT="57150" marB="571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A3323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0.0%</a:t>
                      </a:r>
                    </a:p>
                  </a:txBody>
                  <a:tcPr marL="104775" marR="85725" marT="57150" marB="57150">
                    <a:solidFill>
                      <a:srgbClr val="FFFFFF"/>
                    </a:solidFill>
                  </a:tcPr>
                </a:tc>
              </a:tr>
              <a:tr h="32575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Panda + Panda 基座</a:t>
                      </a:r>
                    </a:p>
                  </a:txBody>
                  <a:tcPr marL="104775" marR="85725" marT="57150" marB="571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151</a:t>
                      </a:r>
                    </a:p>
                  </a:txBody>
                  <a:tcPr marL="104775" marR="85725" marT="57150" marB="571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75.5%</a:t>
                      </a:r>
                    </a:p>
                  </a:txBody>
                  <a:tcPr marL="104775" marR="85725" marT="57150" marB="57150">
                    <a:solidFill>
                      <a:srgbClr val="FFFFFF"/>
                    </a:solidFill>
                  </a:tcPr>
                </a:tc>
              </a:tr>
              <a:tr h="32575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ECO65 + ZhiXing 基座</a:t>
                      </a:r>
                    </a:p>
                  </a:txBody>
                  <a:tcPr marL="104775" marR="85725" marT="57150" marB="571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3</a:t>
                      </a:r>
                    </a:p>
                  </a:txBody>
                  <a:tcPr marL="104775" marR="85725" marT="57150" marB="571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1.5%</a:t>
                      </a:r>
                    </a:p>
                  </a:txBody>
                  <a:tcPr marL="104775" marR="85725" marT="57150" marB="57150">
                    <a:solidFill>
                      <a:srgbClr val="FFFFFF"/>
                    </a:solidFill>
                  </a:tcPr>
                </a:tc>
              </a:tr>
              <a:tr h="32575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ECO65 + Panda 基座</a:t>
                      </a:r>
                    </a:p>
                  </a:txBody>
                  <a:tcPr marL="104775" marR="85725" marT="57150" marB="571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132</a:t>
                      </a:r>
                    </a:p>
                  </a:txBody>
                  <a:tcPr marL="104775" marR="85725" marT="57150" marB="571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66.0%</a:t>
                      </a:r>
                    </a:p>
                  </a:txBody>
                  <a:tcPr marL="104775" marR="85725" marT="57150" marB="571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AA4E12-7E1A-414D-96FD-07E4BE4B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9918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3323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A33232"/>
                </a:solidFill>
                <a:latin typeface="Hiragino Sans GB"/>
                <a:ea typeface="Hiragino Sans GB"/>
                <a:cs typeface="Hiragino Sans GB"/>
              </a:rPr>
              <a:t>验证损失下降 93.3%，微调闭环 0/200，高成功率适配未通过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678D9E-3D05-4E25-9FCF-B87FB4DA9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91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6E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D6E7A"/>
                </a:solidFill>
                <a:latin typeface="Hiragino Sans GB"/>
                <a:ea typeface="Hiragino Sans GB"/>
                <a:cs typeface="Hiragino Sans GB"/>
              </a:rPr>
              <a:t>初态合法 175/200，拒绝计入分母。合法初态微调仍为 0/175。训练完成不能替代任务成功率验收。</a:t>
            </a:r>
          </a:p>
        </p:txBody>
      </p:sp>
    </p:spTree>
    <p:extLst>
      <p:ext uri="{BB962C8B-B14F-4D97-AF65-F5344CB8AC3E}">
        <p14:creationId xmlns:p14="http://schemas.microsoft.com/office/powerpoint/2010/main" val="14307061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7C178C-A4D4-4671-89E3-FF1C424A8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11010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rPr>
              <a:t>π0.5 的 TensorRT INT4 量化部署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99C635-205E-4FEB-A5B5-9387630F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D6E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5D6E7A"/>
                </a:solidFill>
                <a:latin typeface="Hiragino Sans GB"/>
                <a:ea typeface="Hiragino Sans GB"/>
                <a:cs typeface="Hiragino Sans GB"/>
              </a:rPr>
              <a:t>Panda + PandaGripper，原始 π0.5 基座，A100 40GB 对照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989B2B-9C1A-4DEC-B00A-B1706935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333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679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66790"/>
                </a:solidFill>
                <a:latin typeface="Hiragino Sans GB"/>
                <a:ea typeface="Hiragino Sans GB"/>
                <a:cs typeface="Hiragino Sans GB"/>
              </a:rPr>
              <a:t>部署实现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32E1A7-92A0-414E-ADB5-4D1FB099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rPr>
              <a:t>模型模块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4E8AE3-0A31-4E9F-8364-6F7E17992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338137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rPr>
              <a:t>视觉编码、图像与语言 prefix</a:t>
            </a:r>
          </a:p>
          <a:p xmlns:a="http://schemas.openxmlformats.org/drawingml/2006/main">
            <a:pPr>
              <a:def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rPr>
              <a:t>动作专家执行 10 轮去噪</a:t>
            </a:r>
          </a:p>
          <a:p xmlns:a="http://schemas.openxmlformats.org/drawingml/2006/main">
            <a:pPr>
              <a:def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rPr>
              <a:t>三个模块均已实际运行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ADCDBE-4ABC-4687-A1A6-FAEE4678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rPr>
              <a:t>INT4 量化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EA641A-D447-4DAF-9550-006EF7EF7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33813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rPr>
              <a:t>AWQ 与 GPTQ 两种方法</a:t>
            </a:r>
          </a:p>
          <a:p xmlns:a="http://schemas.openxmlformats.org/drawingml/2006/main">
            <a:pPr>
              <a:def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rPr>
              <a:t>prefix 121 个 Linear</a:t>
            </a:r>
          </a:p>
          <a:p xmlns:a="http://schemas.openxmlformats.org/drawingml/2006/main">
            <a:pPr>
              <a:def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rPr>
              <a:t>全 Linear 451 个，激活 BF16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2EC9C3-88AB-44CB-BC04-F346C853D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rPr>
              <a:t>部署验证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123AF8-61C1-446F-A063-3EFD3A06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338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rPr>
              <a:t>引擎构建、重载与请求测试</a:t>
            </a:r>
          </a:p>
          <a:p xmlns:a="http://schemas.openxmlformats.org/drawingml/2006/main">
            <a:pPr>
              <a:def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rPr>
              <a:t>五组同初态闭环共 150 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BFEDDB-6F04-4395-A98D-BB732E785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571625"/>
            <a:ext cx="72961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679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66790"/>
                </a:solidFill>
                <a:latin typeface="Hiragino Sans GB"/>
                <a:ea typeface="Hiragino Sans GB"/>
                <a:cs typeface="Hiragino Sans GB"/>
              </a:rPr>
              <a:t>量化结果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5F8141-3C1F-4FCE-B82A-E30AFADAC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057400"/>
            <a:ext cx="728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42C43"/>
                </a:solidFill>
                <a:latin typeface="Hiragino Sans GB"/>
                <a:ea typeface="Hiragino Sans GB"/>
                <a:cs typeface="Hiragino Sans GB"/>
              </a:rPr>
              <a:t>全 Linear 较 prefix 显存约降 18%，请求 P99 增加</a:t>
            </a:r>
          </a:p>
        </p:txBody>
      </p:sp>
      <p:graphicFrame>
        <p:nvGraphicFramePr>
          <p:cNvPr id="27" name=""/>
          <p:cNvGraphicFramePr/>
          <p:nvPr/>
        </p:nvGraphicFramePr>
        <p:xfrm>
          <a:off xmlns:a="http://schemas.openxmlformats.org/drawingml/2006/main" x="4295775" y="2533650"/>
          <a:ext xmlns:a="http://schemas.openxmlformats.org/drawingml/2006/main" cx="7296150" cy="28956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619375"/>
                <a:gridCol w="1933575"/>
                <a:gridCol w="1352550"/>
                <a:gridCol w="1390650"/>
              </a:tblGrid>
              <a:tr h="4826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模型</a:t>
                      </a:r>
                    </a:p>
                  </a:txBody>
                  <a:tcPr marL="104775" marR="85725" marT="57150" marB="57150">
                    <a:solidFill>
                      <a:srgbClr val="EDF3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闭环成功</a:t>
                      </a:r>
                    </a:p>
                  </a:txBody>
                  <a:tcPr marL="104775" marR="85725" marT="57150" marB="57150">
                    <a:solidFill>
                      <a:srgbClr val="EDF3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峰值 GB</a:t>
                      </a:r>
                    </a:p>
                  </a:txBody>
                  <a:tcPr marL="104775" marR="85725" marT="57150" marB="57150">
                    <a:solidFill>
                      <a:srgbClr val="EDF3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P99 ms</a:t>
                      </a:r>
                    </a:p>
                  </a:txBody>
                  <a:tcPr marL="104775" marR="85725" marT="57150" marB="57150">
                    <a:solidFill>
                      <a:srgbClr val="EDF3F7"/>
                    </a:solidFill>
                  </a:tcPr>
                </a:tc>
              </a:tr>
              <a:tr h="4826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TRT float</a:t>
                      </a:r>
                    </a:p>
                  </a:txBody>
                  <a:tcPr marL="104775" marR="85725" marT="57150" marB="571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25/30 83.3%</a:t>
                      </a:r>
                    </a:p>
                  </a:txBody>
                  <a:tcPr marL="104775" marR="85725" marT="57150" marB="571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8.12</a:t>
                      </a:r>
                    </a:p>
                  </a:txBody>
                  <a:tcPr marL="104775" marR="85725" marT="57150" marB="571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93.23</a:t>
                      </a:r>
                    </a:p>
                  </a:txBody>
                  <a:tcPr marL="104775" marR="85725" marT="57150" marB="57150"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prefix AWQ INT4</a:t>
                      </a:r>
                    </a:p>
                  </a:txBody>
                  <a:tcPr marL="104775" marR="85725" marT="57150" marB="571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25/30 83.3%</a:t>
                      </a:r>
                    </a:p>
                  </a:txBody>
                  <a:tcPr marL="104775" marR="85725" marT="57150" marB="571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5.49</a:t>
                      </a:r>
                    </a:p>
                  </a:txBody>
                  <a:tcPr marL="104775" marR="85725" marT="57150" marB="571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92.93</a:t>
                      </a:r>
                    </a:p>
                  </a:txBody>
                  <a:tcPr marL="104775" marR="85725" marT="57150" marB="57150"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prefix GPTQ INT4</a:t>
                      </a:r>
                    </a:p>
                  </a:txBody>
                  <a:tcPr marL="104775" marR="85725" marT="57150" marB="571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27/30 90.0%</a:t>
                      </a:r>
                    </a:p>
                  </a:txBody>
                  <a:tcPr marL="104775" marR="85725" marT="57150" marB="571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5.44</a:t>
                      </a:r>
                    </a:p>
                  </a:txBody>
                  <a:tcPr marL="104775" marR="85725" marT="57150" marB="571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93.73</a:t>
                      </a:r>
                    </a:p>
                  </a:txBody>
                  <a:tcPr marL="104775" marR="85725" marT="57150" marB="57150"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全 Linear AWQ INT4</a:t>
                      </a:r>
                    </a:p>
                  </a:txBody>
                  <a:tcPr marL="104775" marR="85725" marT="57150" marB="571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24/30 80.0%</a:t>
                      </a:r>
                    </a:p>
                  </a:txBody>
                  <a:tcPr marL="104775" marR="85725" marT="57150" marB="571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4.47</a:t>
                      </a:r>
                    </a:p>
                  </a:txBody>
                  <a:tcPr marL="104775" marR="85725" marT="57150" marB="571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106.76</a:t>
                      </a:r>
                    </a:p>
                  </a:txBody>
                  <a:tcPr marL="104775" marR="85725" marT="57150" marB="57150"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全 Linear GPTQ INT4</a:t>
                      </a:r>
                    </a:p>
                  </a:txBody>
                  <a:tcPr marL="104775" marR="85725" marT="57150" marB="571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29/30 96.7%</a:t>
                      </a:r>
                    </a:p>
                  </a:txBody>
                  <a:tcPr marL="104775" marR="85725" marT="57150" marB="571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4.47</a:t>
                      </a:r>
                    </a:p>
                  </a:txBody>
                  <a:tcPr marL="104775" marR="85725" marT="57150" marB="571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42C4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101.78</a:t>
                      </a:r>
                    </a:p>
                  </a:txBody>
                  <a:tcPr marL="104775" marR="85725" marT="57150" marB="571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489B58-0283-4F03-BF81-0AE6E1B7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5591175"/>
            <a:ext cx="7296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3323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A33232"/>
                </a:solidFill>
                <a:latin typeface="Hiragino Sans GB"/>
                <a:ea typeface="Hiragino Sans GB"/>
                <a:cs typeface="Hiragino Sans GB"/>
              </a:rPr>
              <a:t>GPTQ 数值门槛未通过，AWQ 闭环未达 27/30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78E082-7903-4FF4-A5BA-8D00034C1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9918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3323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A33232"/>
                </a:solidFill>
                <a:latin typeface="Hiragino Sans GB"/>
                <a:ea typeface="Hiragino Sans GB"/>
                <a:cs typeface="Hiragino Sans GB"/>
              </a:rPr>
              <a:t>尚无候选同时通过数值与闭环验收，20 Hz 及实机部署待验证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435D1B-4107-4D7D-8826-94EDBD15E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91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6E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D6E7A"/>
                </a:solidFill>
                <a:latin typeface="Hiragino Sans GB"/>
                <a:ea typeface="Hiragino Sans GB"/>
                <a:cs typeface="Hiragino Sans GB"/>
              </a:rPr>
              <a:t>每组 10 任务 ×3 初态。P99 基于 128 个固定观测请求，不含相机采集、编码与渲染。显存为整卡峰值。</a:t>
            </a:r>
          </a:p>
        </p:txBody>
      </p:sp>
    </p:spTree>
    <p:extLst>
      <p:ext uri="{BB962C8B-B14F-4D97-AF65-F5344CB8AC3E}">
        <p14:creationId xmlns:p14="http://schemas.microsoft.com/office/powerpoint/2010/main" val="15004645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2026-10-08T12:07:45.9490000Z</dcterms:created>
  <dcterms:modified xsi:type="dcterms:W3CDTF">2026-10-08T12:07:45.9490000Z</dcterms:modified>
</coreProperties>
</file>