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6a4e46327244c0" /><Relationship Type="http://schemas.openxmlformats.org/officeDocument/2006/relationships/extended-properties" Target="/docProps/app.xml" Id="Rfa75048c28eb4919" /><Relationship Type="http://schemas.openxmlformats.org/officeDocument/2006/relationships/officeDocument" Target="/ppt/presentation.xml" Id="Reee62464712a4a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62bf103a3d4eb6"/>
  </p:sldMasterIdLst>
  <p:notesMasterIdLst>
    <p:notesMasterId xmlns:r="http://schemas.openxmlformats.org/officeDocument/2006/relationships" r:id="R4ff238032be9495e"/>
  </p:notesMasterIdLst>
  <p:sldIdLst>
    <p:sldId xmlns:r="http://schemas.openxmlformats.org/officeDocument/2006/relationships" id="256" r:id="R0f81431e097e439b"/>
    <p:sldId xmlns:r="http://schemas.openxmlformats.org/officeDocument/2006/relationships" id="257" r:id="Rcb76b6276c2d40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0a2eea5d0b4fb3" /><Relationship Type="http://schemas.openxmlformats.org/officeDocument/2006/relationships/slideMaster" Target="/ppt/slideMasters/slideMaster1.xml" Id="R5562bf103a3d4eb6" /><Relationship Type="http://schemas.openxmlformats.org/officeDocument/2006/relationships/notesMaster" Target="/ppt/notesMasters/notesMaster1.xml" Id="R4ff238032be9495e" /><Relationship Type="http://schemas.openxmlformats.org/officeDocument/2006/relationships/presProps" Target="/ppt/presProps.xml" Id="Rcfe138967c3e4e17" /><Relationship Type="http://schemas.openxmlformats.org/officeDocument/2006/relationships/tableStyles" Target="/ppt/tableStyles.xml" Id="R9400142ff9564647" /><Relationship Type="http://schemas.openxmlformats.org/officeDocument/2006/relationships/slide" Target="/ppt/slides/slide1.xml" Id="R0f81431e097e439b" /><Relationship Type="http://schemas.openxmlformats.org/officeDocument/2006/relationships/slide" Target="/ppt/slides/slide2.xml" Id="Rcb76b6276c2d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644e0437244e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9c3ff978214327" /><Relationship Type="http://schemas.openxmlformats.org/officeDocument/2006/relationships/notesMaster" Target="/ppt/notesMasters/notesMaster1.xml" Id="Rdb379547a74f4f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cfedbb13e1479b" /><Relationship Type="http://schemas.openxmlformats.org/officeDocument/2006/relationships/notesMaster" Target="/ppt/notesMasters/notesMaster1.xml" Id="R31fb04a467d342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对象为 ECO65+ZhiXing。正式数据覆盖 Spatial 任务 0、2、3、5、6，189 条训练、39 条验证，共 170724 动作帧与 341448 张双视角图像。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本轮官方 pi05_libero 保持 discrete_state_input=False，状态保存在数据接口中，模型条件为图像和语言。仅语言/动作分支 LoRA 更新，视觉与全部非 LoRA 参数保持不变。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正式训练 10000 步，约 122.7 分钟。验证损失基座 0.30261684960020435，第10000步 0.020352864245139376，下降百分比按原始值计算，图表数据保留8位小数。重载参数字节相同，同噪声预测误差0，续训10001步未覆盖原权重。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四组采用相同原生随机 reset 对象初态，10任务各20次，220步主预算。此协议不是官方.pruned初态基准，手动渲染同时显示碰撞与视觉网格。每组25次初态拒绝保留分母，本批最高可能成功率87.5%。微调已训练与未训练任务分别0/100，合法初态中0/175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教师最早成功需528步，微调task06某次延长诊断559步达到原生目标，但不计220步主成功，也未替代释放稳定认证。工作区伸直、渲染差异等是后续开发诊断，不是已证明的唯一根因。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来源：/Users/yuyu/Documents/openpi/agent-work-space/5-final-train/采集完成与转换恢复记录_20261007_r1.md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来源：/Users/yuyu/Documents/openpi/agent-work-space/5-final-train/π0.5微调完成记录_20261008_r1.md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来源：/Users/yuyu/Documents/openpi/agent-work-space/5-final-train/闭环测试恢复与完成记录_20261008_r2.md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来源：/Users/yuyu/Documents/openpi/agent-work-space/5-final-train/当前版本与文件索引_20261008_r2.md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数值来源：/Users/yuyu/Documents/openpi/agent-work-space/project-summary-evidence/summary_20261008_r1/project_facts_readback.json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本页实验对象为原始 pi05_libero 基座权重和 Panda+PandaGripper，未使用 ECO65+ZhiXing 的第10000步微调权重。29/30不能代表该机械臂组合适配通过。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TensorRT 10.13.3.9。三模块为视觉编码、prefix图像/语言处理及动作专家action_step，完整执行10轮去噪。旧prefix量化覆盖121个实际可达Linear，全Linear量化覆盖163视觉+121prefix+167动作专家=451。其他参数保留浮点表示，量化压缩权重，BF16激活/GEMM，不是全模型4bit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A100五组每组Spatial十任务各3个相同官方初态，共150次，全部视频完整解码。单模型驻留整卡资源记录。原始PyTorch本轮A100未测，旧4090数字不能混入此表。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B按10^9字节计算。整卡NVML峰值含加载、预热、128观测回归与闭环，和单进程显存不同。请求P99来自20次预热后的128个相同观测串行请求，含请求构造、HTTP、解码、预处理、三模块10轮去噪、反归一化和响应解码，不含相机采集、base64编码与OSMesa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GPTQ的两组数值门槛未通过，不能以29/30替代数值验收。AWQ数值门槛通过但闭环不到27/30。尚无候选同时满足全部门槛，实际8GB设备、两小时、正式200次与实物未完成验收。全量化较prefix AWQ显存下降18.5%、P99上升14.9%，较prefix GPTQ显存下降17.8%、P99上升8.6%。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来源：/Users/yuyu/Documents/openpi/agent-work-space/6-model-inference/versions/a100_comparison_20261008_r1/A100模型综合对比.md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来源：/Users/yuyu/Documents/openpi/agent-work-space/6-model-inference/versions/a100_closedloop_20261008_r1/A100统一闭环测试记录.md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来源：/Users/yuyu/Documents/openpi/agent-work-space/6-model-inference/versions/trt_t0_t2_20261007_r1/T0-T2实施记录.md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来源：/Users/yuyu/Documents/openpi/agent-work-space/6-model-inference/versions/trt_t3_20261007_r1/T3实施记录.md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来源：/Users/yuyu/Documents/openpi/agent-work-space/6-model-inference/versions/trt_full4_20261007_r1/全Linear量化快速验证结果.md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a83f993e24f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9a79d76f984d2c" /><Relationship Type="http://schemas.openxmlformats.org/officeDocument/2006/relationships/slideLayout" Target="/ppt/slideLayouts/slideLayout1.xml" Id="Rd71da1c2fda041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1da1c2fda041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9fb0bfcbb4fac" /><Relationship Type="http://schemas.openxmlformats.org/officeDocument/2006/relationships/chart" Target="/ppt/slides/charts/chart1.xml" Id="R79885303b72e4e25" /><Relationship Type="http://schemas.openxmlformats.org/officeDocument/2006/relationships/notesSlide" Target="/ppt/notesSlides/notesSlide1.xml" Id="R54ea366f1ef94c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bfec1ec9c40b5" /><Relationship Type="http://schemas.openxmlformats.org/officeDocument/2006/relationships/notesSlide" Target="/ppt/notesSlides/notesSlide2.xml" Id="R2ec79b08f553417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五任务等权验证损失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C43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验证损失</c:v>
          </c:tx>
          <c:spPr>
            <a:ln xmlns:a="http://schemas.openxmlformats.org/drawingml/2006/main" w="28575">
              <a:solidFill>
                <a:srgbClr val="16679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16679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>0.3026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>0.02035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>
                    <a:solidFill>
                      <a:srgbClr val="142C43"/>
                    </a:solidFill>
                    <a:latin typeface="Hiragino Sans GB"/>
                    <a:ea typeface="Hiragino Sans GB"/>
                    <a:cs typeface="Hiragino Sans GB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Data'!$A$2:$A$7</c:f>
              <c:strCache>
                <c:ptCount val="6"/>
                <c:pt idx="0">
                  <c:v>基座</c:v>
                </c:pt>
                <c:pt idx="1">
                  <c:v>2000</c:v>
                </c:pt>
                <c:pt idx="2">
                  <c:v>4000</c:v>
                </c:pt>
                <c:pt idx="3">
                  <c:v>6000</c:v>
                </c:pt>
                <c:pt idx="4">
                  <c:v>8000</c:v>
                </c:pt>
                <c:pt idx="5">
                  <c:v>10000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0.30261685</c:v>
                </c:pt>
                <c:pt idx="1">
                  <c:v>0.03766954</c:v>
                </c:pt>
                <c:pt idx="2">
                  <c:v>0.02965985</c:v>
                </c:pt>
                <c:pt idx="3">
                  <c:v>0.02512903</c:v>
                </c:pt>
                <c:pt idx="4">
                  <c:v>0.02154031</c:v>
                </c:pt>
                <c:pt idx="5">
                  <c:v>0.02035286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C43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0E7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0.3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7EC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32A99-16BB-40DA-81C5-5DD41580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1010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ECO65 + ZhiXing 的 LoRA 训练与验证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1DB93-2DCB-46A2-A39D-508FDC04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rPr>
              <a:t>LIBERO Spatial 五任务示范与正式闭环对照，统计截至 2026-10-08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7BD6A-674D-4299-8227-E49B8B66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rPr>
              <a:t>训练实现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AC6FC-2ADF-402B-99E7-20EF5382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数据准备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88739-CFBC-41DA-BE93-DDD2A31E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4324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228 条示范，170,724 动作帧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189 训练 / 39 验证，双视角 RGB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LeRobot 转换与全帧读回通过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93447-6892-4DAF-B8C9-CA345705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LoRA 微调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4F96D-BFAB-47F5-8D65-F421BFA6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4324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π0.5 基座，batch 4，horizon 10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只更新 LoRA，视觉及其余参数冻结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五任务均衡采样，训练 10,000 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5BC7D-C2DE-4D4F-836D-87760E70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检查点验证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AF773-DA41-4E36-AA68-633238D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324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独立重载预测误差 0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成功恢复执行第 10001 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9F2A0-D8B2-42D2-BCAB-4EDA4F9E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71625"/>
            <a:ext cx="6362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rPr>
              <a:t>训练结果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191125" y="1981200"/>
          <a:ext xmlns:a="http://schemas.openxmlformats.org/drawingml/2006/main" cx="64389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885303b72e4e25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FCADE-106B-40B1-87BB-7073C931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4807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十任务闭环对照，每组 200 次，主预算 220 步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5219700" y="4029075"/>
          <a:ext xmlns:a="http://schemas.openxmlformats.org/drawingml/2006/main" cx="6362700" cy="18764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81425"/>
                <a:gridCol w="1228725"/>
                <a:gridCol w="1352550"/>
              </a:tblGrid>
              <a:tr h="37528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机器人与模型</a:t>
                      </a:r>
                    </a:p>
                  </a:txBody>
                  <a:tcPr marL="104775" marR="85725" marT="19050" marB="19050">
                    <a:solidFill>
                      <a:srgbClr val="ED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成功/200</a:t>
                      </a:r>
                    </a:p>
                  </a:txBody>
                  <a:tcPr marL="104775" marR="85725" marT="19050" marB="19050">
                    <a:solidFill>
                      <a:srgbClr val="ED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成功率</a:t>
                      </a:r>
                    </a:p>
                  </a:txBody>
                  <a:tcPr marL="104775" marR="85725" marT="19050" marB="19050">
                    <a:solidFill>
                      <a:srgbClr val="EDF3F7"/>
                    </a:solidFill>
                  </a:tcPr>
                </a:tc>
              </a:tr>
              <a:tr h="37528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A332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ECO65 + ZhiXing LoRA</a:t>
                      </a:r>
                    </a:p>
                  </a:txBody>
                  <a:tcPr marL="104775" marR="857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A332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104775" marR="857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A332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0.0%</a:t>
                      </a:r>
                    </a:p>
                  </a:txBody>
                  <a:tcPr marL="104775" marR="85725" marT="19050" marB="19050">
                    <a:solidFill>
                      <a:srgbClr val="FFFFFF"/>
                    </a:solidFill>
                  </a:tcPr>
                </a:tc>
              </a:tr>
              <a:tr h="37528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Panda + Panda 基座</a:t>
                      </a:r>
                    </a:p>
                  </a:txBody>
                  <a:tcPr marL="104775" marR="857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151</a:t>
                      </a:r>
                    </a:p>
                  </a:txBody>
                  <a:tcPr marL="104775" marR="857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75.5%</a:t>
                      </a:r>
                    </a:p>
                  </a:txBody>
                  <a:tcPr marL="104775" marR="85725" marT="19050" marB="19050">
                    <a:solidFill>
                      <a:srgbClr val="FFFFFF"/>
                    </a:solidFill>
                  </a:tcPr>
                </a:tc>
              </a:tr>
              <a:tr h="37528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ECO65 + ZhiXing 基座</a:t>
                      </a:r>
                    </a:p>
                  </a:txBody>
                  <a:tcPr marL="104775" marR="857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104775" marR="857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1.5%</a:t>
                      </a:r>
                    </a:p>
                  </a:txBody>
                  <a:tcPr marL="104775" marR="85725" marT="19050" marB="19050">
                    <a:solidFill>
                      <a:srgbClr val="FFFFFF"/>
                    </a:solidFill>
                  </a:tcPr>
                </a:tc>
              </a:tr>
              <a:tr h="37528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ECO65 + Panda 基座</a:t>
                      </a:r>
                    </a:p>
                  </a:txBody>
                  <a:tcPr marL="104775" marR="857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132</a:t>
                      </a:r>
                    </a:p>
                  </a:txBody>
                  <a:tcPr marL="104775" marR="857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66.0%</a:t>
                      </a:r>
                    </a:p>
                  </a:txBody>
                  <a:tcPr marL="104775" marR="85725" marT="19050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82261-1D16-49AB-B052-2BA5BEE6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91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rPr>
              <a:t>验证损失下降 93.3%，微调闭环 0/200，高成功率适配未通过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C9912-A6F9-49F9-BB69-7BD82F14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91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rPr>
              <a:t>初态合法 175/200，拒绝计入分母。合法初态微调仍为 0/175。训练完成不能替代任务成功率验收。</a:t>
            </a:r>
          </a:p>
        </p:txBody>
      </p:sp>
    </p:spTree>
    <p:extLst>
      <p:ext uri="{BB962C8B-B14F-4D97-AF65-F5344CB8AC3E}">
        <p14:creationId xmlns:p14="http://schemas.microsoft.com/office/powerpoint/2010/main" val="1509641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9C54D-4B33-4A9F-945D-2E8E497F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1010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π0.5 的 TensorRT INT4 量化部署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06EB5-2C8E-4000-B9AE-E73679A5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rPr>
              <a:t>Panda + PandaGripper，原始 π0.5 基座，A100 40GB 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E1D68-C8A4-40FA-9C0C-65E0874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rPr>
              <a:t>部署实现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D5F62-D334-47AD-B91E-0222C25C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模型模块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74265-FB33-43EB-AF35-C9B7A701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381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视觉编码、图像与语言 prefix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动作专家执行 10 轮去噪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三个模块均已实际运行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818BB-91CD-42B5-9759-35DD0F5A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INT4 量化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0ED0D-ED56-4DB8-8BC2-249A0BD2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381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AWQ 与 GPTQ 两种方法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prefix 121 个 Linear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全 Linear 451 个，激活 BF16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E27A6-2A54-448A-BB2C-8465F48F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部署验证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28E59-3E58-4A08-AC72-26BDA541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引擎构建、重载与请求测试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五组同初态闭环共 150 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B581C-06A4-44E2-A407-9D78817B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571625"/>
            <a:ext cx="7296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rPr>
              <a:t>量化结果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BFE30-098B-4405-9C1B-764F1050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574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全 Linear 较 prefix 显存约降 18%，请求 P99 增加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4295775" y="2533650"/>
          <a:ext xmlns:a="http://schemas.openxmlformats.org/drawingml/2006/main" cx="7296150" cy="2895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19375"/>
                <a:gridCol w="1933575"/>
                <a:gridCol w="1352550"/>
                <a:gridCol w="1390650"/>
              </a:tblGrid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闭环成功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峰值 GB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P99 ms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</a:tr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TRT float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25/30 83.3%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8.12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93.23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prefix AWQ INT4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25/30 83.3%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5.49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92.93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prefix GPTQ INT4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27/30 90.0%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5.44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93.73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 Linear AWQ INT4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24/30 80.0%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4.47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106.76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 Linear GPTQ INT4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29/30 96.7%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4.47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101.78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94E44-DE89-4604-A41C-408DA315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591175"/>
            <a:ext cx="7296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rPr>
              <a:t>GPTQ 数值门槛未通过，AWQ 闭环未达 27/30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6A1F1-151C-4499-8CD6-43509CD6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91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rPr>
              <a:t>尚无候选同时通过数值与闭环验收，20 Hz 及实机部署待验证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FA40E-C02F-420E-9CF3-054AC760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91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rPr>
              <a:t>每组 10 任务 ×3 初态。P99 基于 128 个固定观测请求，不含相机采集、编码与渲染。显存为整卡峰值。</a:t>
            </a:r>
          </a:p>
        </p:txBody>
      </p:sp>
    </p:spTree>
    <p:extLst>
      <p:ext uri="{BB962C8B-B14F-4D97-AF65-F5344CB8AC3E}">
        <p14:creationId xmlns:p14="http://schemas.microsoft.com/office/powerpoint/2010/main" val="1083663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2026-10-08T12:11:10.0250000Z</dcterms:created>
  <dcterms:modified xsi:type="dcterms:W3CDTF">2026-10-08T12:11:10.0250000Z</dcterms:modified>
</coreProperties>
</file>