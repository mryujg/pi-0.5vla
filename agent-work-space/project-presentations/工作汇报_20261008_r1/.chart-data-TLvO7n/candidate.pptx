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f23763c434df5" /><Relationship Type="http://schemas.openxmlformats.org/officeDocument/2006/relationships/extended-properties" Target="/docProps/app.xml" Id="Rf2b1419ba9d84544" /><Relationship Type="http://schemas.openxmlformats.org/officeDocument/2006/relationships/officeDocument" Target="/ppt/presentation.xml" Id="R7e7c2bf6690746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7c3e24dab491e"/>
  </p:sldMasterIdLst>
  <p:notesMasterIdLst>
    <p:notesMasterId xmlns:r="http://schemas.openxmlformats.org/officeDocument/2006/relationships" r:id="Rbd91144d81f04b8b"/>
  </p:notesMasterIdLst>
  <p:sldIdLst>
    <p:sldId xmlns:r="http://schemas.openxmlformats.org/officeDocument/2006/relationships" id="256" r:id="Rc5f5ea9722b944a1"/>
    <p:sldId xmlns:r="http://schemas.openxmlformats.org/officeDocument/2006/relationships" id="257" r:id="R9cd750ad855d41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7e7e13572401e" /><Relationship Type="http://schemas.openxmlformats.org/officeDocument/2006/relationships/slideMaster" Target="/ppt/slideMasters/slideMaster1.xml" Id="R81d7c3e24dab491e" /><Relationship Type="http://schemas.openxmlformats.org/officeDocument/2006/relationships/notesMaster" Target="/ppt/notesMasters/notesMaster1.xml" Id="Rbd91144d81f04b8b" /><Relationship Type="http://schemas.openxmlformats.org/officeDocument/2006/relationships/presProps" Target="/ppt/presProps.xml" Id="R9eadcfee00934e22" /><Relationship Type="http://schemas.openxmlformats.org/officeDocument/2006/relationships/tableStyles" Target="/ppt/tableStyles.xml" Id="Rfd82c1418f614566" /><Relationship Type="http://schemas.openxmlformats.org/officeDocument/2006/relationships/slide" Target="/ppt/slides/slide1.xml" Id="Rc5f5ea9722b944a1" /><Relationship Type="http://schemas.openxmlformats.org/officeDocument/2006/relationships/slide" Target="/ppt/slides/slide2.xml" Id="R9cd750ad855d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b31935b27140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56712bee24525" /><Relationship Type="http://schemas.openxmlformats.org/officeDocument/2006/relationships/notesMaster" Target="/ppt/notesMasters/notesMaster1.xml" Id="R638f0a99ba91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c64ab5f7e40c4" /><Relationship Type="http://schemas.openxmlformats.org/officeDocument/2006/relationships/notesMaster" Target="/ppt/notesMasters/notesMaster1.xml" Id="R4fa711dabeb2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对象为 ECO65+ZhiXing。正式数据覆盖 Spatial 任务 0、2、3、5、6，189 条训练、39 条验证，共 170724 动作帧与 341448 张双视角图像。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本轮官方 pi05_libero 保持 discrete_state_input=False，状态保存在数据接口中，模型条件为图像和语言。仅语言/动作分支 LoRA 更新，视觉与全部非 LoRA 参数保持不变。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正式训练 10000 步，约 122.7 分钟。验证损失基座 0.30261684960020435，第10000步 0.020352864245139376，下降百分比按原始值计算，图表数据保留8位小数。重载参数字节相同，同噪声预测误差0，续训10001步未覆盖原权重。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四组采用相同原生随机 reset 对象初态，10任务各20次，220步主预算。此协议不是官方.pruned初态基准，手动渲染同时显示碰撞与视觉网格。每组25次初态拒绝保留分母，本批最高可能成功率87.5%。微调已训练与未训练任务分别0/100，合法初态中0/175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教师最早成功需528步，微调task06某次延长诊断559步达到原生目标，但不计220步主成功，也未替代释放稳定认证。工作区伸直、渲染差异等是后续开发诊断，不是已证明的唯一根因。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来源：/Users/yuyu/Documents/openpi/agent-work-space/5-final-train/采集完成与转换恢复记录_20261007_r1.md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来源：/Users/yuyu/Documents/openpi/agent-work-space/5-final-train/π0.5微调完成记录_20261008_r1.md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来源：/Users/yuyu/Documents/openpi/agent-work-space/5-final-train/闭环测试恢复与完成记录_20261008_r2.md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来源：/Users/yuyu/Documents/openpi/agent-work-space/5-final-train/当前版本与文件索引_20261008_r2.md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数值来源：/Users/yuyu/Documents/openpi/agent-work-space/project-summary-evidence/summary_20261008_r1/project_facts_readback.json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本页实验对象为原始 pi05_libero 基座权重和 Panda+PandaGripper，未使用 ECO65+ZhiXing 的第10000步微调权重。29/30不能代表该机械臂组合适配通过。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TensorRT 10.13.3.9。三模块为视觉编码、prefix图像/语言处理及动作专家action_step，完整执行10轮去噪。旧prefix量化覆盖121个实际可达Linear，全Linear量化覆盖163视觉+121prefix+167动作专家=451。其他参数保留浮点表示，量化压缩权重，BF16激活/GEMM，不是全模型4bit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A100五组每组Spatial十任务各3个相同官方初态，共150次，全部视频完整解码。单模型驻留整卡资源记录。原始PyTorch本轮A100未测，旧4090数字不能混入此表。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B按10^9字节计算。整卡NVML峰值含加载、预热、128观测回归与闭环，和单进程显存不同。请求P99来自20次预热后的128个相同观测串行请求，含请求构造、HTTP、解码、预处理、三模块10轮去噪、反归一化和响应解码，不含相机采集、base64编码与OSMesa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GPTQ的两组数值门槛未通过，不能以29/30替代数值验收。AWQ数值门槛通过但闭环不到27/30。尚无候选同时满足全部门槛，实际8GB设备、两小时、正式200次与实物未完成验收。全量化较prefix AWQ显存下降18.5%、P99上升14.9%，较prefix GPTQ显存下降17.8%、P99上升8.6%。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来源：/Users/yuyu/Documents/openpi/agent-work-space/6-model-inference/versions/a100_comparison_20261008_r1/A100模型综合对比.md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来源：/Users/yuyu/Documents/openpi/agent-work-space/6-model-inference/versions/a100_closedloop_20261008_r1/A100统一闭环测试记录.md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来源：/Users/yuyu/Documents/openpi/agent-work-space/6-model-inference/versions/trt_t0_t2_20261007_r1/T0-T2实施记录.md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来源：/Users/yuyu/Documents/openpi/agent-work-space/6-model-inference/versions/trt_t3_20261007_r1/T3实施记录.md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来源：/Users/yuyu/Documents/openpi/agent-work-space/6-model-inference/versions/trt_full4_20261007_r1/全Linear量化快速验证结果.md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a8adae9424c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47f60e85e491d" /><Relationship Type="http://schemas.openxmlformats.org/officeDocument/2006/relationships/slideLayout" Target="/ppt/slideLayouts/slideLayout1.xml" Id="R18074211a572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74211a572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d9f435b94b13" /><Relationship Type="http://schemas.openxmlformats.org/officeDocument/2006/relationships/chart" Target="/ppt/slides/charts/chart1.xml" Id="R4a0da560fcb24690" /><Relationship Type="http://schemas.openxmlformats.org/officeDocument/2006/relationships/notesSlide" Target="/ppt/notesSlides/notesSlide1.xml" Id="R890f920cd7ad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d47d19ef4c6b" /><Relationship Type="http://schemas.openxmlformats.org/officeDocument/2006/relationships/notesSlide" Target="/ppt/notesSlides/notesSlide2.xml" Id="R025163a3f13749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五任务等权验证损失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C43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验证损失</c:v>
          </c:tx>
          <c:spPr>
            <a:ln xmlns:a="http://schemas.openxmlformats.org/drawingml/2006/main" w="28575">
              <a:solidFill>
                <a:srgbClr val="16679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6679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0.3026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0.02035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42C43"/>
                    </a:solidFill>
                    <a:latin typeface="Hiragino Sans GB"/>
                    <a:ea typeface="Hiragino Sans GB"/>
                    <a:cs typeface="Hiragino Sans GB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基座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</c:v>
                </c:pt>
                <c:pt idx="3">
                  <c:v>0.02512903</c:v>
                </c:pt>
                <c:pt idx="4">
                  <c:v>0.02154031</c:v>
                </c:pt>
                <c:pt idx="5">
                  <c:v>0.02035286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3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7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31081-DDFD-4D86-91E3-FA83C4A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ECO65 + ZhiXing 的 LoRA 训练与验证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0D55F-EB5A-47E5-BDFC-A793F71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LIBERO Spatial 五任务示范与正式闭环对照，统计截至 2026-10-08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63268-0FF2-4870-AB1A-9BF490A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3A5B7-0251-4435-A368-2E99F1C2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数据准备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7AF0B-5031-44E1-9F8E-F20937C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228 条示范，170,724 动作帧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189 训练 / 39 验证，双视角 RGB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LeRobot 转换与全帧读回通过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4AC7B-071C-41DB-8C7E-4B922B8C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LoRA 微调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69AA0-C2B5-4F1D-9709-D3311BE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基座，batch 4，horizon 10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只更新 LoRA，视觉及其余参数冻结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五任务均衡采样，训练 10,000 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FEF0D-E2E7-4944-8223-A4E52A70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检查点验证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E5DBE-C427-49FC-BBC3-CCD65A0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独立重载预测误差 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成功恢复执行第 10001 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397D6-F9B3-4E22-AD8B-DD8D5E7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636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训练结果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191125" y="1981200"/>
          <a:ext xmlns:a="http://schemas.openxmlformats.org/drawingml/2006/main" cx="64389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0da560fcb2469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517A-FCA4-4A53-B0AF-045F0E4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十任务闭环对照，每组 200 次，主预算 220 步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219700" y="4295775"/>
          <a:ext xmlns:a="http://schemas.openxmlformats.org/drawingml/2006/main" cx="6362700" cy="1628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81425"/>
                <a:gridCol w="1228725"/>
                <a:gridCol w="1352550"/>
              </a:tblGrid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机器人与模型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成功/200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成功率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LoRA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Panda + Panda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151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75.5%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1.5%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Panda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132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66.0%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73A7A-BA5B-4B8C-878B-457BBCE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验证损失下降 93.3%，微调闭环 0/200，高成功率适配未通过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A21C1-E691-4807-A4BA-0B978B6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初态合法 175/200，拒绝计入分母。合法初态微调仍为 0/175。训练完成不能替代任务成功率验收。</a:t>
            </a:r>
          </a:p>
        </p:txBody>
      </p:sp>
    </p:spTree>
    <p:extLst>
      <p:ext uri="{BB962C8B-B14F-4D97-AF65-F5344CB8AC3E}">
        <p14:creationId xmlns:p14="http://schemas.microsoft.com/office/powerpoint/2010/main" val="1967044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746A5-8EB8-4859-8A61-DD1A82F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的 TensorRT INT4 量化部署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CF61B-4C84-4A82-962D-ACBD72A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Panda + PandaGripper，原始 π0.5 基座，A100 40GB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2E812-62BD-4267-AB53-53A14A1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部署实现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0A9A6-0BF7-449A-A958-E3B941FF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模型模块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31213-B207-4DF9-948D-183BEAA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381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视觉编码、图像与语言 prefix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动作专家执行 10 轮去噪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三个模块均已实际运行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C4D9E-D74A-4A6B-88CE-59139954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INT4 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096DE-1797-48AB-A61D-A83FA10E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AWQ 与 GPTQ 两种方法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prefix 121 个 Linear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451 个，激活 BF16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EE40B-6B24-4AFE-9E45-D79EAAB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部署验证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974F9-02BE-4891-BE21-E54A8C32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引擎构建、重载与请求测试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五组同初态闭环共 150 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AE011-3526-463F-8E72-13566387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729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量化结果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1ADB6-00C5-4E98-8011-2FE3FCF0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574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较 prefix 显存约降 18%，请求 P99 增加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295775" y="2533650"/>
          <a:ext xmlns:a="http://schemas.openxmlformats.org/drawingml/2006/main" cx="729615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1933575"/>
                <a:gridCol w="1352550"/>
                <a:gridCol w="1390650"/>
              </a:tblGrid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闭环成功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峰值 GB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P99 ms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TRT float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8.12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93.23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5.49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92.93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27/30 90.0%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93.73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24/30 80.0%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106.76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29/30 96.7%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101.78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30518-4AB1-4A55-8A53-27767D35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91175"/>
            <a:ext cx="7296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GPTQ 数值门槛未通过，AWQ 闭环未达 27/30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577CE-1BB6-405D-84C0-76D12D39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尚无候选同时通过数值与闭环验收，20 Hz 及实机部署待验证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FD956-1911-4781-91F6-BB0A2174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每组 10 任务 ×3 初态。P99 基于 128 个固定观测请求，不含相机采集、编码与渲染。显存为整卡峰值。</a:t>
            </a:r>
          </a:p>
        </p:txBody>
      </p:sp>
    </p:spTree>
    <p:extLst>
      <p:ext uri="{BB962C8B-B14F-4D97-AF65-F5344CB8AC3E}">
        <p14:creationId xmlns:p14="http://schemas.microsoft.com/office/powerpoint/2010/main" val="1429503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2026-10-08T12:06:54.4220000Z</dcterms:created>
  <dcterms:modified xsi:type="dcterms:W3CDTF">2026-10-08T12:06:54.4220000Z</dcterms:modified>
</coreProperties>
</file>