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634627dccc4492" /><Relationship Type="http://schemas.openxmlformats.org/officeDocument/2006/relationships/extended-properties" Target="/docProps/app.xml" Id="Rc3363ce86b934982" /><Relationship Type="http://schemas.openxmlformats.org/officeDocument/2006/relationships/officeDocument" Target="/ppt/presentation.xml" Id="Rd38f0d6f8cc846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713268de614348"/>
  </p:sldMasterIdLst>
  <p:notesMasterIdLst>
    <p:notesMasterId xmlns:r="http://schemas.openxmlformats.org/officeDocument/2006/relationships" r:id="Rfa772155b3774900"/>
  </p:notesMasterIdLst>
  <p:sldIdLst>
    <p:sldId xmlns:r="http://schemas.openxmlformats.org/officeDocument/2006/relationships" id="256" r:id="Rd7ddac14014342e5"/>
    <p:sldId xmlns:r="http://schemas.openxmlformats.org/officeDocument/2006/relationships" id="257" r:id="Radb01319ea8248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e1099bde9141bd" /><Relationship Type="http://schemas.openxmlformats.org/officeDocument/2006/relationships/slideMaster" Target="/ppt/slideMasters/slideMaster1.xml" Id="R37713268de614348" /><Relationship Type="http://schemas.openxmlformats.org/officeDocument/2006/relationships/notesMaster" Target="/ppt/notesMasters/notesMaster1.xml" Id="Rfa772155b3774900" /><Relationship Type="http://schemas.openxmlformats.org/officeDocument/2006/relationships/presProps" Target="/ppt/presProps.xml" Id="Rf0ca4ae20ee14f6e" /><Relationship Type="http://schemas.openxmlformats.org/officeDocument/2006/relationships/tableStyles" Target="/ppt/tableStyles.xml" Id="R7fe00bb6b76c4c8a" /><Relationship Type="http://schemas.openxmlformats.org/officeDocument/2006/relationships/slide" Target="/ppt/slides/slide1.xml" Id="Rd7ddac14014342e5" /><Relationship Type="http://schemas.openxmlformats.org/officeDocument/2006/relationships/slide" Target="/ppt/slides/slide2.xml" Id="Radb01319ea8248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8cadde21d544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8a634b07004bf5" /><Relationship Type="http://schemas.openxmlformats.org/officeDocument/2006/relationships/notesMaster" Target="/ppt/notesMasters/notesMaster1.xml" Id="Rd8cc610ad03649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58450e07894fc6" /><Relationship Type="http://schemas.openxmlformats.org/officeDocument/2006/relationships/notesMaster" Target="/ppt/notesMasters/notesMaster1.xml" Id="R63f2622b371f4d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训练实现：正式310次采集尝试，228条准入，覆盖Spatial task 0/2/3/5/6，189训练与39验证，170724动作帧，双256×256 RGB，7维OSC动作。网络输入为图像和语言，discrete_state_input=False。原始pi05_libero，Gemma 2B语言与300M动作专家LoRA，视觉和其余非LoRA参数冻结。Batch4，AdamW，峰值LR1e-4，warmup200，10000步。训练耗时7363.993秒，即122.7分钟。全流程含准备、小规模验证、重载为135.2分钟。选模固定任务均衡验证，checkpoint10000。基线验证loss0.3026168496，最后0.0203528642，下降93.2744%。非LoRA哈希不变，独立重载参数字节与固定噪声预测一致。权重位于远端 /mnt/data/vla-policy/openpi/agent-work-space/5-final-train/runs/spatial_lora_20261007_r1/checkpoint/10000/。</a:t>
            </a:r>
          </a:p>
          <a:p xmlns:a="http://schemas.openxmlformats.org/drawingml/2006/main">
            <a:r>
              <a:t>闭环：四组各10任务×20次，共800次，20Hz控制，预测10步/执行5步，220步主预算，首例650步仅诊断。无效初态不重采，每组25无效、175有效，固定200分母，成功率上限87.5%。LoRA有效初态0/175，不能将全部失败归因于预算或初态。教师228条均在220步以后到达原生目标，最早528步。LoRA task6扩展首次在559步达到目标，不计主成功。该测试使用冻结随机复位协议，非官方LIBERO init-state benchmark。测试10任务包含5个未训练任务。已保留44个MP4。图表数值源于下列核对结果，不将loss下降视为闭环验收。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资料来源（服务器工作目录的本地核对副本）：</a:t>
            </a:r>
          </a:p>
          <a:p xmlns:a="http://schemas.openxmlformats.org/drawingml/2006/main">
            <a:r>
              <a:t>/Users/yuyu/Documents/openpi/agent-work-space/5-final-train/reports/training_complete_verified_20261008_r1.json</a:t>
            </a:r>
          </a:p>
          <a:p xmlns:a="http://schemas.openxmlformats.org/drawingml/2006/main">
            <a:r>
              <a:t>/Users/yuyu/Documents/openpi/agent-work-space/5-final-train/runs/closed_loop_readback_20261008_r2/verified_results.json</a:t>
            </a:r>
          </a:p>
          <a:p xmlns:a="http://schemas.openxmlformats.org/drawingml/2006/main">
            <a:r>
              <a:t>/Users/yuyu/Documents/openpi/agent-work-space/5-final-train/闭环测试恢复与完成记录_20261008_r2.md</a:t>
            </a:r>
          </a:p>
          <a:p xmlns:a="http://schemas.openxmlformats.org/drawingml/2006/main">
            <a:r>
              <a:t>/Users/yuyu/Documents/openpi/agent-work-space/5-final-train/采集完成与转换恢复记录_20261007_r1.md</a:t>
            </a:r>
          </a:p>
          <a:p xmlns:a="http://schemas.openxmlformats.org/drawingml/2006/main">
            <a:r>
              <a:t>/Users/yuyu/Documents/openpi/agent-work-space/5-final-train/reports/teacher_timing_diagnostic_20261008_r1.json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部署分支独立于ECO65微调：使用原始 pi05_libero BF16、Panda/PandaGripper，未加载本页上一页的微调权重。ModelOpt完成AWQ/GPTQ校准和显式INT4 ONNX，TensorRT模块化为vision、prefix、action_step，10轮flow去噪，HTTP服务接LIBERO。旧版本仅prefix INT4，完整版本量化图中可达451个Linear（vision163/prefix121/action167）；embedding、卷积、bias、norm保留浮点，不代表所有参数均为4bit。A100-SXM4-40GB复建9个引擎，TensorRT10.13.3.9，SM80，strong typing，TF32关闭，workspace2GiB，OPT3。同批固定源权重与ONNX，没有在A100重新校准。</a:t>
            </a:r>
          </a:p>
          <a:p xmlns:a="http://schemas.openxmlformats.org/drawingml/2006/main">
            <a:r>
              <a:t>A100五组各30集共150集，Spatial10任务、官方初态索引0/1/2，20Hz仿真，预测10步执行5步，主预算220步。150个MP4完整解码通过，进程均正常，无OOM。成功率与上一页自定义随机复位800集不可直接比较。A100未测试原始PyTorch，不混用4090历史数据。显存为NVML整卡十进制GB生命周期峰值，包含加载/热身/数值回归/闭环。时延为20次热身后128次固定观测串行HTTP请求的P99，包含服务端JSON/预处理/三引擎10轮去噪/反归一化/响应，不含相机采集、base64编码、渲染，非1000次请求旧基准。</a:t>
            </a:r>
          </a:p>
          <a:p xmlns:a="http://schemas.openxmlformats.org/drawingml/2006/main">
            <a:r>
              <a:t>全Linear GPTQ显存4.470669312GB，相比浮点8.123908096GB下降44.97%，P99为101.7770ms，相比浮点93.2327ms没有提升。数值门槛为128固定观测与30初始观测两组共同通过。GPTQ旧版和全Linear版闭环门槛达到27/30，数值误差未达标。全Linear GPTQ动作P99误差0.051847&gt;0.05、夹爪差异1.172%&gt;0.5%，初始观测越界增量4.809524pp&gt;1pp。AWQ数值通过，闭环不足27/30。暂无同时通过误差与闭环的量化方案。A100测试只证明工程链路与相应实验结果，8GB目标GPU、实物、20Hz实时部署均未验收。完整部署需进一步误差诊断与目标设备验证，不能将29/30单独解释为ECO65适配完成或实物部署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资料来源（服务器工作目录的本地核对副本）：</a:t>
            </a:r>
          </a:p>
          <a:p xmlns:a="http://schemas.openxmlformats.org/drawingml/2006/main">
            <a:r>
              <a:t>/Users/yuyu/Documents/openpi/agent-work-space/6-model-inference/versions/a100_comparison_20261008_r1/comparison.json</a:t>
            </a:r>
          </a:p>
          <a:p xmlns:a="http://schemas.openxmlformats.org/drawingml/2006/main">
            <a:r>
              <a:t>/Users/yuyu/Documents/openpi/agent-work-space/6-model-inference/versions/a100_comparison_20261008_r1/A100模型综合对比.md</a:t>
            </a:r>
          </a:p>
          <a:p xmlns:a="http://schemas.openxmlformats.org/drawingml/2006/main">
            <a:r>
              <a:t>/Users/yuyu/Documents/openpi/agent-work-space/6-model-inference/versions/a100_closedloop_20261008_r1/A100统一闭环测试记录.md</a:t>
            </a:r>
          </a:p>
          <a:p xmlns:a="http://schemas.openxmlformats.org/drawingml/2006/main">
            <a:r>
              <a:t>/Users/yuyu/Documents/openpi/agent-work-space/6-model-inference/当前实施索引_20261008_r2.md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459d96122b45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646ad131624908" /><Relationship Type="http://schemas.openxmlformats.org/officeDocument/2006/relationships/slideLayout" Target="/ppt/slideLayouts/slideLayout1.xml" Id="R4d22cfd88e4846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22cfd88e4846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910dd0640493e" /><Relationship Type="http://schemas.openxmlformats.org/officeDocument/2006/relationships/chart" Target="/ppt/slides/charts/chart1.xml" Id="R47b165fcf5e14877" /><Relationship Type="http://schemas.openxmlformats.org/officeDocument/2006/relationships/notesSlide" Target="/ppt/notesSlides/notesSlide1.xml" Id="Rd83c6594e66146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90b4174784664" /><Relationship Type="http://schemas.openxmlformats.org/officeDocument/2006/relationships/notesSlide" Target="/ppt/notesSlides/notesSlide2.xml" Id="R2a86489ef69542e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任务均衡验证损失</c:v>
          </c:tx>
          <c:spPr>
            <a:ln xmlns:a="http://schemas.openxmlformats.org/drawingml/2006/main" w="28575">
              <a:solidFill>
                <a:srgbClr val="087F83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087F83"/>
              </a:solidFill>
            </c:spPr>
          </c:marke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00">
                      <a:solidFill>
                        <a:srgbClr val="152C40"/>
                      </a:solidFill>
                      <a:latin typeface="Heiti TC"/>
                      <a:ea typeface="Heiti TC"/>
                      <a:cs typeface="Heiti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00">
                      <a:solidFill>
                        <a:srgbClr val="152C40"/>
                      </a:solidFill>
                      <a:latin typeface="Heiti TC"/>
                      <a:ea typeface="Heiti TC"/>
                      <a:cs typeface="Heiti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700">
                    <a:solidFill>
                      <a:srgbClr val="152C40"/>
                    </a:solidFill>
                    <a:latin typeface="Heiti TC"/>
                    <a:ea typeface="Heiti TC"/>
                    <a:cs typeface="Heiti T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Data'!$A$2:$A$7</c:f>
              <c:strCache>
                <c:ptCount val="6"/>
                <c:pt idx="0">
                  <c:v>0</c:v>
                </c:pt>
                <c:pt idx="1">
                  <c:v>2k</c:v>
                </c:pt>
                <c:pt idx="2">
                  <c:v>4k</c:v>
                </c:pt>
                <c:pt idx="3">
                  <c:v>6k</c:v>
                </c:pt>
                <c:pt idx="4">
                  <c:v>8k</c:v>
                </c:pt>
                <c:pt idx="5">
                  <c:v>10k</c:v>
                </c:pt>
              </c:strCache>
            </c:strRef>
          </c:cat>
          <c:val>
            <c:numRef>
              <c:f>'Chart Data'!$B$2:$B$7</c:f>
              <c:numCache>
                <c:formatCode>0.000</c:formatCode>
                <c:ptCount val="6"/>
                <c:pt idx="0">
                  <c:v>0.30261685</c:v>
                </c:pt>
                <c:pt idx="1">
                  <c:v>0.03766954</c:v>
                </c:pt>
                <c:pt idx="2">
                  <c:v>0.029659852</c:v>
                </c:pt>
                <c:pt idx="3">
                  <c:v>0.025129033</c:v>
                </c:pt>
                <c:pt idx="4">
                  <c:v>0.021540306</c:v>
                </c:pt>
                <c:pt idx="5">
                  <c:v>0.020352864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00">
                  <a:solidFill>
                    <a:srgbClr val="152C40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CE3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0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0.3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7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0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297F8F5C-E2F0-4B73-8110-BF63C5A4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π0.5 微调已完成，闭环适配仍未通过</a:t>
            </a:r>
          </a:p>
        </p:txBody>
      </p:sp>
      <p:sp>
        <p:nvSpPr>
          <p:cNvPr id="2" name="scope">
            <a:extLst xmlns:a="http://schemas.openxmlformats.org/drawingml/2006/main">
              <a:ext uri="{FF2B5EF4-FFF2-40B4-BE49-F238E27FC236}">
                <a16:creationId xmlns:a16="http://schemas.microsoft.com/office/drawing/2014/main" id="{C050F170-3C49-46EC-85A6-9A449EAE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ECO65＋ZhiXing，5 个训练任务与 10 个测试任务，2026-10-08</a:t>
            </a:r>
          </a:p>
        </p:txBody>
      </p:sp>
      <p:sp>
        <p:nvSpPr>
          <p:cNvPr id="3" name="implementation-heading">
            <a:extLst xmlns:a="http://schemas.openxmlformats.org/drawingml/2006/main">
              <a:ext uri="{FF2B5EF4-FFF2-40B4-BE49-F238E27FC236}">
                <a16:creationId xmlns:a16="http://schemas.microsoft.com/office/drawing/2014/main" id="{1221C776-98C7-4BA5-BD1D-29E2118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4914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3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训练实现</a:t>
            </a:r>
          </a:p>
        </p:txBody>
      </p:sp>
      <p:sp>
        <p:nvSpPr>
          <p:cNvPr id="4" name="implementation">
            <a:extLst xmlns:a="http://schemas.openxmlformats.org/drawingml/2006/main">
              <a:ext uri="{FF2B5EF4-FFF2-40B4-BE49-F238E27FC236}">
                <a16:creationId xmlns:a16="http://schemas.microsoft.com/office/drawing/2014/main" id="{06F16764-7CDF-4824-B887-3980EB74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9775"/>
            <a:ext cx="5238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228 条示范，189 训练／39 验证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任务 0、2、3、5、6，双 RGB＋语言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π0.5 基座，JAX/Flax LoRA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语言与动作专家更新，视觉参数冻结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Batch 4，10,000 步，耗时 122.7 分钟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Checkpoint 10000，保存与独立重载通过</a:t>
            </a:r>
          </a:p>
        </p:txBody>
      </p:sp>
      <p:sp>
        <p:nvSpPr>
          <p:cNvPr id="5" name="loss-heading">
            <a:extLst xmlns:a="http://schemas.openxmlformats.org/drawingml/2006/main">
              <a:ext uri="{FF2B5EF4-FFF2-40B4-BE49-F238E27FC236}">
                <a16:creationId xmlns:a16="http://schemas.microsoft.com/office/drawing/2014/main" id="{DDF5128D-C407-41A9-8CCF-9E6B1233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任务均衡验证损失下降 93.3%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4419600"/>
          <a:ext xmlns:a="http://schemas.openxmlformats.org/drawingml/2006/main" cx="5314950" cy="1866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b165fcf5e14877"/>
          </a:graphicData>
        </a:graphic>
      </p:graphicFrame>
      <p:sp>
        <p:nvSpPr>
          <p:cNvPr id="7" name="loss-axis">
            <a:extLst xmlns:a="http://schemas.openxmlformats.org/drawingml/2006/main">
              <a:ext uri="{FF2B5EF4-FFF2-40B4-BE49-F238E27FC236}">
                <a16:creationId xmlns:a16="http://schemas.microsoft.com/office/drawing/2014/main" id="{A98BF4D5-460A-4FDF-B586-F9BBC24A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334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7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训练步数</a:t>
            </a:r>
          </a:p>
        </p:txBody>
      </p:sp>
      <p:sp>
        <p:nvSpPr>
          <p:cNvPr id="8" name="results-heading">
            <a:extLst xmlns:a="http://schemas.openxmlformats.org/drawingml/2006/main">
              <a:ext uri="{FF2B5EF4-FFF2-40B4-BE49-F238E27FC236}">
                <a16:creationId xmlns:a16="http://schemas.microsoft.com/office/drawing/2014/main" id="{91B935E5-BEDD-4DCF-952E-6DB9CFB9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00" b="1">
                <a:solidFill>
                  <a:srgbClr val="B34432"/>
                </a:solidFill>
                <a:latin typeface="Heiti TC"/>
                <a:ea typeface="Heiti TC"/>
                <a:cs typeface="Heiti TC"/>
              </a:defRPr>
            </a:pPr>
            <a:r>
              <a:rPr sz="2300" b="1">
                <a:solidFill>
                  <a:srgbClr val="B34432"/>
                </a:solidFill>
                <a:latin typeface="Heiti TC"/>
                <a:ea typeface="Heiti TC"/>
                <a:cs typeface="Heiti TC"/>
              </a:rPr>
              <a:t>闭环结果：微调模型 0/200</a:t>
            </a:r>
          </a:p>
        </p:txBody>
      </p:sp>
      <p:sp>
        <p:nvSpPr>
          <p:cNvPr id="9" name="rollout-scope">
            <a:extLst xmlns:a="http://schemas.openxmlformats.org/drawingml/2006/main">
              <a:ext uri="{FF2B5EF4-FFF2-40B4-BE49-F238E27FC236}">
                <a16:creationId xmlns:a16="http://schemas.microsoft.com/office/drawing/2014/main" id="{71EBF1DB-AFD9-44E4-86E2-A88BFE16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10 个任务各 20 次，220 步主预算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096000" y="2447925"/>
          <a:ext xmlns:a="http://schemas.openxmlformats.org/drawingml/2006/main" cx="5600700" cy="2476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00425"/>
                <a:gridCol w="1104900"/>
                <a:gridCol w="1095375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策略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成功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成功率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ECO65＋ZhiXing 微调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34432"/>
                          </a:solidFill>
                          <a:latin typeface="Heiti TC"/>
                          <a:ea typeface="Heiti TC"/>
                          <a:cs typeface="Heiti TC"/>
                        </a:rPr>
                        <a:t>0/200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34432"/>
                          </a:solidFill>
                          <a:latin typeface="Heiti TC"/>
                          <a:ea typeface="Heiti TC"/>
                          <a:cs typeface="Heiti TC"/>
                        </a:rPr>
                        <a:t>0.0%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ECO65＋ZhiXing 原始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3/200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1.5%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ECO65＋Panda 原始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132/200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66.0%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Panda 原始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151/200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75.5%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limitations">
            <a:extLst xmlns:a="http://schemas.openxmlformats.org/drawingml/2006/main">
              <a:ext uri="{FF2B5EF4-FFF2-40B4-BE49-F238E27FC236}">
                <a16:creationId xmlns:a16="http://schemas.microsoft.com/office/drawing/2014/main" id="{42107ECB-5A15-4827-843B-4A989E14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600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175 个有效初态中仍为 0 成功。</a:t>
            </a:r>
          </a:p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教师最快需 528 步，预算不匹配是已知限制。</a:t>
            </a:r>
          </a:p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高成功率适配目标 ≥90%，当前尚未达标。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72630476-FFB9-4CA9-8EFD-9954E9FD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4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367596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98316AF2-6103-49BD-A355-7BF0983B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INT4 部署链路已跑通，显存降至 4.47 GB</a:t>
            </a:r>
          </a:p>
        </p:txBody>
      </p:sp>
      <p:sp>
        <p:nvSpPr>
          <p:cNvPr id="2" name="scope">
            <a:extLst xmlns:a="http://schemas.openxmlformats.org/drawingml/2006/main">
              <a:ext uri="{FF2B5EF4-FFF2-40B4-BE49-F238E27FC236}">
                <a16:creationId xmlns:a16="http://schemas.microsoft.com/office/drawing/2014/main" id="{22655E40-5141-4DDA-8555-FCD0705D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原始 π0.5＋Panda，A100 40 GB，本页未使用 ECO65 微调权重</a:t>
            </a:r>
          </a:p>
        </p:txBody>
      </p:sp>
      <p:sp>
        <p:nvSpPr>
          <p:cNvPr id="3" name="quantization-heading">
            <a:extLst xmlns:a="http://schemas.openxmlformats.org/drawingml/2006/main">
              <a:ext uri="{FF2B5EF4-FFF2-40B4-BE49-F238E27FC236}">
                <a16:creationId xmlns:a16="http://schemas.microsoft.com/office/drawing/2014/main" id="{476CF0BB-1014-46DF-AB53-6D04DE9F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14475"/>
            <a:ext cx="539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2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量化实现</a:t>
            </a:r>
          </a:p>
        </p:txBody>
      </p:sp>
      <p:sp>
        <p:nvSpPr>
          <p:cNvPr id="4" name="quantization-implementation">
            <a:extLst xmlns:a="http://schemas.openxmlformats.org/drawingml/2006/main">
              <a:ext uri="{FF2B5EF4-FFF2-40B4-BE49-F238E27FC236}">
                <a16:creationId xmlns:a16="http://schemas.microsoft.com/office/drawing/2014/main" id="{D40CC596-A8BD-4D63-82F6-ED184BC2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539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ModelOpt AWQ/GPTQ 校准，显式 INT4 ONNX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全 Linear 覆盖 451 层，其余类型保留浮点</a:t>
            </a:r>
          </a:p>
        </p:txBody>
      </p:sp>
      <p:sp>
        <p:nvSpPr>
          <p:cNvPr id="5" name="deployment-heading">
            <a:extLst xmlns:a="http://schemas.openxmlformats.org/drawingml/2006/main">
              <a:ext uri="{FF2B5EF4-FFF2-40B4-BE49-F238E27FC236}">
                <a16:creationId xmlns:a16="http://schemas.microsoft.com/office/drawing/2014/main" id="{B81A731C-7A8F-4522-B454-057D37FB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14475"/>
            <a:ext cx="5486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2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部署实现</a:t>
            </a:r>
          </a:p>
        </p:txBody>
      </p:sp>
      <p:sp>
        <p:nvSpPr>
          <p:cNvPr id="6" name="deployment-implementation">
            <a:extLst xmlns:a="http://schemas.openxmlformats.org/drawingml/2006/main">
              <a:ext uri="{FF2B5EF4-FFF2-40B4-BE49-F238E27FC236}">
                <a16:creationId xmlns:a16="http://schemas.microsoft.com/office/drawing/2014/main" id="{9726ED19-4BC4-4353-A654-5C07E900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240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vision、prefix、action_step 三个 TensorRT 引擎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10 轮去噪，HTTP 推理与 LIBERO 闭环已打通</a:t>
            </a:r>
          </a:p>
        </p:txBody>
      </p:sp>
      <p:sp>
        <p:nvSpPr>
          <p:cNvPr id="7" name="table-scope">
            <a:extLst xmlns:a="http://schemas.openxmlformats.org/drawingml/2006/main">
              <a:ext uri="{FF2B5EF4-FFF2-40B4-BE49-F238E27FC236}">
                <a16:creationId xmlns:a16="http://schemas.microsoft.com/office/drawing/2014/main" id="{C997330F-A82A-48A5-B7F2-8463D19A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76525"/>
            <a:ext cx="1118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A100 对照结果，Spatial 10 任务 × 3 次，220 步预算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14350" y="3086100"/>
          <a:ext xmlns:a="http://schemas.openxmlformats.org/drawingml/2006/main" cx="11182350" cy="2457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90900"/>
                <a:gridCol w="2152650"/>
                <a:gridCol w="1847850"/>
                <a:gridCol w="1847850"/>
                <a:gridCol w="1943100"/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模型版本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成功率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显存峰值 GB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请求 P99 ms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数值门槛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TensorRT 浮点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25/30（83.3%）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8.12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93.23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通过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Prefix AWQ INT4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25/30（83.3%）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5.49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92.93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通过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Prefix GPTQ INT4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27/30（90.0%）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5.44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93.73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34432"/>
                          </a:solidFill>
                          <a:latin typeface="Heiti TC"/>
                          <a:ea typeface="Heiti TC"/>
                          <a:cs typeface="Heiti TC"/>
                        </a:rPr>
                        <a:t>未通过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全 Linear AWQ INT4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24/30（80.0%）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4.47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106.76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通过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全 Linear GPTQ INT4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29/30（96.7%）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4.47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101.78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34432"/>
                          </a:solidFill>
                          <a:latin typeface="Heiti TC"/>
                          <a:ea typeface="Heiti TC"/>
                          <a:cs typeface="Heiti TC"/>
                        </a:rPr>
                        <a:t>未通过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</a:tr>
            </a:tbl>
          </a:graphicData>
        </a:graphic>
      </p:graphicFrame>
      <p:sp>
        <p:nvSpPr>
          <p:cNvPr id="9" name="result-conclusion">
            <a:extLst xmlns:a="http://schemas.openxmlformats.org/drawingml/2006/main">
              <a:ext uri="{FF2B5EF4-FFF2-40B4-BE49-F238E27FC236}">
                <a16:creationId xmlns:a16="http://schemas.microsoft.com/office/drawing/2014/main" id="{10B1C1C7-1FEC-463D-9797-51CEF739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53100"/>
            <a:ext cx="11182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34432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B34432"/>
                </a:solidFill>
                <a:latin typeface="Heiti TC"/>
                <a:ea typeface="Heiti TC"/>
                <a:cs typeface="Heiti TC"/>
              </a:rPr>
              <a:t>全 Linear GPTQ：29/30，显存较浮点下降约 45%，数值门槛未通过。</a:t>
            </a:r>
          </a:p>
          <a:p xmlns:a="http://schemas.openxmlformats.org/drawingml/2006/main">
            <a:pPr>
              <a:defRPr sz="1800" b="0">
                <a:solidFill>
                  <a:srgbClr val="B34432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B34432"/>
                </a:solidFill>
                <a:latin typeface="Heiti TC"/>
                <a:ea typeface="Heiti TC"/>
                <a:cs typeface="Heiti TC"/>
              </a:rPr>
              <a:t>尚无方案通过全部验收，20 Hz 实时与 8 GB 实物部署尚未验收。</a:t>
            </a:r>
          </a:p>
        </p:txBody>
      </p:sp>
      <p:sp>
        <p:nvSpPr>
          <p:cNvPr id="10" name="measurement-note">
            <a:extLst xmlns:a="http://schemas.openxmlformats.org/drawingml/2006/main">
              <a:ext uri="{FF2B5EF4-FFF2-40B4-BE49-F238E27FC236}">
                <a16:creationId xmlns:a16="http://schemas.microsoft.com/office/drawing/2014/main" id="{C1B4D581-A483-4FB3-A2A5-B2AAC77F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0334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4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显存为 NVML 整卡峰值。P99 为 128 次串行 HTTP 请求，含服务端处理，不含图像采集与编码。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B18CA25B-A27A-466A-A177-889413AA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4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15958500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2026-10-08T11:59:57.4180000Z</dcterms:created>
  <dcterms:modified xsi:type="dcterms:W3CDTF">2026-10-08T11:59:57.4180000Z</dcterms:modified>
</coreProperties>
</file>