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c933dd00284f5d" /><Relationship Type="http://schemas.openxmlformats.org/officeDocument/2006/relationships/extended-properties" Target="/docProps/app.xml" Id="R4f7a873fa784488f" /><Relationship Type="http://schemas.openxmlformats.org/officeDocument/2006/relationships/officeDocument" Target="/ppt/presentation.xml" Id="R5ea0560612d646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a451f97f5447b9"/>
  </p:sldMasterIdLst>
  <p:notesMasterIdLst>
    <p:notesMasterId xmlns:r="http://schemas.openxmlformats.org/officeDocument/2006/relationships" r:id="Rf03c4b3df9ae46e1"/>
  </p:notesMasterIdLst>
  <p:sldIdLst>
    <p:sldId xmlns:r="http://schemas.openxmlformats.org/officeDocument/2006/relationships" id="256" r:id="Rb92f53af9d6b4df9"/>
    <p:sldId xmlns:r="http://schemas.openxmlformats.org/officeDocument/2006/relationships" id="257" r:id="R50024598aa7c46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411c19c4224a63" /><Relationship Type="http://schemas.openxmlformats.org/officeDocument/2006/relationships/slideMaster" Target="/ppt/slideMasters/slideMaster1.xml" Id="Rc4a451f97f5447b9" /><Relationship Type="http://schemas.openxmlformats.org/officeDocument/2006/relationships/notesMaster" Target="/ppt/notesMasters/notesMaster1.xml" Id="Rf03c4b3df9ae46e1" /><Relationship Type="http://schemas.openxmlformats.org/officeDocument/2006/relationships/presProps" Target="/ppt/presProps.xml" Id="Rf459afa7bfd84d0c" /><Relationship Type="http://schemas.openxmlformats.org/officeDocument/2006/relationships/tableStyles" Target="/ppt/tableStyles.xml" Id="R9a5e59c8256149c4" /><Relationship Type="http://schemas.openxmlformats.org/officeDocument/2006/relationships/slide" Target="/ppt/slides/slide1.xml" Id="Rb92f53af9d6b4df9" /><Relationship Type="http://schemas.openxmlformats.org/officeDocument/2006/relationships/slide" Target="/ppt/slides/slide2.xml" Id="R50024598aa7c46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1991af5da647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349d6b7a414820" /><Relationship Type="http://schemas.openxmlformats.org/officeDocument/2006/relationships/notesMaster" Target="/ppt/notesMasters/notesMaster1.xml" Id="Rfe08400d954547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45418e466b43f2" /><Relationship Type="http://schemas.openxmlformats.org/officeDocument/2006/relationships/notesMaster" Target="/ppt/notesMasters/notesMaster1.xml" Id="Rba2bc7237d0e4e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本页展示建模与控制验证阶段，不包含后续训练或推理项目。</a:t>
            </a:r>
          </a:p>
          <a:p xmlns:a="http://schemas.openxmlformats.org/drawingml/2006/main">
            <a:r>
              <a:t>模型实现来源：</a:t>
            </a:r>
          </a:p>
          <a:p xmlns:a="http://schemas.openxmlformats.org/drawingml/2006/main">
            <a:r>
              <a:t>/Users/yuyu/Documents/openpi/robosuite/models/assets/robots/ECO65-B/robot.xml</a:t>
            </a:r>
          </a:p>
          <a:p xmlns:a="http://schemas.openxmlformats.org/drawingml/2006/main">
            <a:r>
              <a:t>/Users/yuyu/Documents/openpi/robosuite/models/robots/manipulators/eco65_robot.py</a:t>
            </a:r>
          </a:p>
          <a:p xmlns:a="http://schemas.openxmlformats.org/drawingml/2006/main">
            <a:r>
              <a:t>/Users/yuyu/Documents/openpi/robosuite/models/assets/grippers/zhixing_gripper.xml</a:t>
            </a:r>
          </a:p>
          <a:p xmlns:a="http://schemas.openxmlformats.org/drawingml/2006/main">
            <a:r>
              <a:t>/Users/yuyu/Documents/openpi/robosuite/models/grippers/zhixing_gripper.py</a:t>
            </a:r>
          </a:p>
          <a:p xmlns:a="http://schemas.openxmlformats.org/drawingml/2006/main">
            <a:r>
              <a:t>控制与带载诊断来源：</a:t>
            </a:r>
          </a:p>
          <a:p xmlns:a="http://schemas.openxmlformats.org/drawingml/2006/main">
            <a:r>
              <a:t>/Users/yuyu/Documents/openpi/agent-work-space/controller_validation_20260927/ECO65基座自碰撞_问题解决记录.md</a:t>
            </a:r>
          </a:p>
          <a:p xmlns:a="http://schemas.openxmlformats.org/drawingml/2006/main">
            <a:r>
              <a:t>/Users/yuyu/Documents/openpi/agent-work-space/zhixing_gripper_solve/ZhiXing夹爪完善工作总结_20261002_r1.md</a:t>
            </a:r>
          </a:p>
          <a:p xmlns:a="http://schemas.openxmlformats.org/drawingml/2006/main">
            <a:r>
              <a:t>14次独立诊断的环境为Python 3.10与MuJoCo 3.2.6，不代表旧环境底层内存错误或生产渲染已经修复。</a:t>
            </a:r>
          </a:p>
          <a:p xmlns:a="http://schemas.openxmlformats.org/drawingml/2006/main">
            <a:r>
              <a:t>配图来源：/Users/yuyu/Documents/openpi/agent-work-space/4-multi-task-collection/videos/spatial_pilot_20261004_r2/object_task00_can.jpg，裁取中间搬运阶段的双视角，来自can_s56100后续采集，不是10月2日独立验证批次录像。</a:t>
            </a:r>
          </a:p>
          <a:p xmlns:a="http://schemas.openxmlformats.org/drawingml/2006/main">
            <a:r>
              <a:t>视频说明：/Users/yuyu/Documents/openpi/agent-work-space/4-multi-task-collection/videos/spatial_pilot_20261004_r2/视频索引.md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本页分别展示机械臂基础对照与知行夹爪阶段验证，不能合并为同一统计批次。</a:t>
            </a:r>
          </a:p>
          <a:p xmlns:a="http://schemas.openxmlformats.org/drawingml/2006/main">
            <a:r>
              <a:t>1. 基座碰撞：</a:t>
            </a:r>
          </a:p>
          <a:p xmlns:a="http://schemas.openxmlformats.org/drawingml/2006/main">
            <a:r>
              <a:t>/Users/yuyu/Documents/openpi/agent-work-space/controller_validation_20260927/ECO65基座自碰撞_问题解决记录.md</a:t>
            </a:r>
          </a:p>
          <a:p xmlns:a="http://schemas.openxmlformats.org/drawingml/2006/main">
            <a:r>
              <a:t>原始碰撞体穿透约12.17mm，固定y正向20mm目标仅移动约3.44mm。成对排除后的8项固定目标测试通过。该历史问题记录写作时正式XML尚未修改，后续初始位姿记录和当前robot.xml确认已落地。</a:t>
            </a:r>
          </a:p>
          <a:p xmlns:a="http://schemas.openxmlformats.org/drawingml/2006/main">
            <a:r>
              <a:t>2. 初始位姿：</a:t>
            </a:r>
          </a:p>
          <a:p xmlns:a="http://schemas.openxmlformats.org/drawingml/2006/main">
            <a:r>
              <a:t>/Users/yuyu/Documents/openpi/agent-work-space/initial_pose_alignment_20260927/ECO65初始位姿未对齐_问题解决记录.md</a:t>
            </a:r>
          </a:p>
          <a:p xmlns:a="http://schemas.openxmlformats.org/drawingml/2006/main">
            <a:r>
              <a:t>ECO65＋PandaGripper历史基线，初始位置差108.694mm、姿态差6.0071度，对齐后位置0.001mm、姿态0.0003度。LIBERO Spatial十任务各一次，seed7，成功由6/10提升为9/10，Panda参考10/10。不能标为知行夹爪成功率。</a:t>
            </a:r>
          </a:p>
          <a:p xmlns:a="http://schemas.openxmlformats.org/drawingml/2006/main">
            <a:r>
              <a:t>按挂载夹爪选择初始化来源：/Users/yuyu/Documents/openpi/robosuite/models/robots/manipulators/eco65_robot.py。</a:t>
            </a:r>
          </a:p>
          <a:p xmlns:a="http://schemas.openxmlformats.org/drawingml/2006/main">
            <a:r>
              <a:t>3. 开合极性和六关节初始化：/Users/yuyu/Documents/openpi/robosuite/models/grippers/zhixing_gripper.py。速度比较及0.091mm约束残差来源：/Users/yuyu/Documents/openpi/agent-work-space/zhixing_gripper_solve/ZhiXing夹爪完善工作总结_20261002_r1.md。0.01是目标累积步长，不是mm/s。报告的历史默认值修正与当前源文件默认值不同，本页仅声明已验证配置，不声明生产默认配置。</a:t>
            </a:r>
          </a:p>
          <a:p xmlns:a="http://schemas.openxmlformats.org/drawingml/2006/main">
            <a:r>
              <a:t>4. 带载保持：同一总结，88.2g试块保持2秒，双侧接触100%，无外部支撑，左右指12.27N和11.36N，相对滑移1.852mm。夹持力原本存在，本阶段没有提高力上限。10N抗扰动差距仍未证明已修复。</a:t>
            </a:r>
          </a:p>
          <a:p xmlns:a="http://schemas.openxmlformats.org/drawingml/2006/main">
            <a:r>
              <a:t>5. 安全教师：/Users/yuyu/Documents/openpi/agent-work-space/zhixing_gripper_solve/安全教师路径_实现与验证记录_20261002_r1.md。0/3与3/3为相同诊断试块场景，包含几何、路径、姿态、到位保护等组合改动。原生碗直径约107mm，开口约89.6mm，采用局部碗沿夹持。</a:t>
            </a:r>
          </a:p>
          <a:p xmlns:a="http://schemas.openxmlformats.org/drawingml/2006/main">
            <a:r>
              <a:t>6. PD A/B：/Users/yuyu/Documents/openpi/agent-work-space/zhixing_gripper_solve/控制配置_AB执行与定位记录_20261002_r1.md。kp3与kp0配对实验三个困难碗完整任务0/3和1/3，B组三例均通过旧抬升/搬运阻塞阶段，后续综合教师修正不可归功于PD单因素。采用隔离profile，未切换生产默认控制配置。</a:t>
            </a:r>
          </a:p>
          <a:p xmlns:a="http://schemas.openxmlformats.org/drawingml/2006/main">
            <a:r>
              <a:t>底部独立验证：锁定r20，新种子52100至52109，每类10次，不替换失败。罐10/10、碗8/10。两例碗失败：52103初始化穿插约10.82mm导致弹出桌面，52104接近位置残差约10.80mm超出4mm门限。</a:t>
            </a:r>
          </a:p>
          <a:p xmlns:a="http://schemas.openxmlformats.org/drawingml/2006/main">
            <a:r>
              <a:t>来源：/Users/yuyu/Documents/openpi/agent-work-space/zhixing_gripper_solve/真实碗罐几何接入_实现与验证记录_20261002_r1.md</a:t>
            </a:r>
          </a:p>
          <a:p xmlns:a="http://schemas.openxmlformats.org/drawingml/2006/main">
            <a:r>
              <a:t>/Users/yuyu/Documents/openpi/agent-work-space/zhixing_gripper_solve/ZhiXing夹爪完善工作总结_20261002_r1.md。数据截至2026-10-02，不代替后续任务的新结果。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cfd5e7a3c448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14bd98fa2e49c7" /><Relationship Type="http://schemas.openxmlformats.org/officeDocument/2006/relationships/slideLayout" Target="/ppt/slideLayouts/slideLayout1.xml" Id="R80792ed1c14741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792ed1c14741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356d1b9b849a9" /><Relationship Type="http://schemas.openxmlformats.org/officeDocument/2006/relationships/image" Target="/ppt/media/image.jpeg" Id="Rfa96c57d8a5b4bec" /><Relationship Type="http://schemas.openxmlformats.org/officeDocument/2006/relationships/notesSlide" Target="/ppt/notesSlides/notesSlide1.xml" Id="R369b800c2d8047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7bad99713453a" /><Relationship Type="http://schemas.openxmlformats.org/officeDocument/2006/relationships/notesSlide" Target="/ppt/notesSlides/notesSlide2.xml" Id="R81c253179bc440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49FFA7-7534-4B60-86A5-E7ED47F1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536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5364B"/>
                </a:solidFill>
                <a:latin typeface="Arial Unicode MS"/>
                <a:ea typeface="Arial Unicode MS"/>
                <a:cs typeface="Arial Unicode MS"/>
              </a:rPr>
              <a:t>睿尔曼 ECO65＋知行 Gripper 建模与控制验证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CA0794-50EE-4601-AF2C-41C964C7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6173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37E"/>
                </a:solidFill>
                <a:latin typeface="Arial Unicode MS"/>
                <a:ea typeface="Arial Unicode MS"/>
                <a:cs typeface="Arial Unicode MS"/>
              </a:rPr>
              <a:t>MuJoCo、robosuite 与 LIBERO 仿真实现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2D454-E836-4307-AB58-65AB9F01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581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325" b="1">
                <a:solidFill>
                  <a:srgbClr val="126C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26C9A"/>
                </a:solidFill>
                <a:latin typeface="Arial Unicode MS"/>
                <a:ea typeface="Arial Unicode MS"/>
                <a:cs typeface="Arial Unicode MS"/>
              </a:rPr>
              <a:t>机械臂与夹爪建模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78457-0C7E-4FC2-A797-3EA5B93B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85975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263E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E4D"/>
                </a:solidFill>
                <a:latin typeface="Arial Unicode MS"/>
                <a:ea typeface="Arial Unicode MS"/>
                <a:cs typeface="Arial Unicode MS"/>
              </a:rPr>
              <a:t>ECO65 六轴模型含惯量、关节限位与力矩执行器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263E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E4D"/>
                </a:solidFill>
                <a:latin typeface="Arial Unicode MS"/>
                <a:ea typeface="Arial Unicode MS"/>
                <a:cs typeface="Arial Unicode MS"/>
              </a:rPr>
              <a:t>知行双指采用单驱动、联动约束与四连杆结构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A63EE-F051-47E4-83CD-FE89321C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14675"/>
            <a:ext cx="581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325" b="1">
                <a:solidFill>
                  <a:srgbClr val="126C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26C9A"/>
                </a:solidFill>
                <a:latin typeface="Arial Unicode MS"/>
                <a:ea typeface="Arial Unicode MS"/>
                <a:cs typeface="Arial Unicode MS"/>
              </a:rPr>
              <a:t>接口与工具坐标统一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88364-F36C-4BEE-BB58-F6710577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263E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E4D"/>
                </a:solidFill>
                <a:latin typeface="Arial Unicode MS"/>
                <a:ea typeface="Arial Unicode MS"/>
                <a:cs typeface="Arial Unicode MS"/>
              </a:rPr>
              <a:t>接入机器人及夹爪注册，使用 OSC 末端位姿控制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263E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E4D"/>
                </a:solidFill>
                <a:latin typeface="Arial Unicode MS"/>
                <a:ea typeface="Arial Unicode MS"/>
                <a:cs typeface="Arial Unicode MS"/>
              </a:rPr>
              <a:t>统一开合语义，核对实际 TCP 与腕部相机几何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87C036-9ED2-46AC-91F8-4D2F34C9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00575"/>
            <a:ext cx="581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325" b="1">
                <a:solidFill>
                  <a:srgbClr val="126C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26C9A"/>
                </a:solidFill>
                <a:latin typeface="Arial Unicode MS"/>
                <a:ea typeface="Arial Unicode MS"/>
                <a:cs typeface="Arial Unicode MS"/>
              </a:rPr>
              <a:t>独立控制验证与失败定位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EB4C2-6ABA-4E47-830F-9F3864BE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6730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263E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E4D"/>
                </a:solidFill>
                <a:latin typeface="Arial Unicode MS"/>
                <a:ea typeface="Arial Unicode MS"/>
                <a:cs typeface="Arial Unicode MS"/>
              </a:rPr>
              <a:t>用固定平移、旋转目标检查误差、限位和接触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263E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E4D"/>
                </a:solidFill>
                <a:latin typeface="Arial Unicode MS"/>
                <a:ea typeface="Arial Unicode MS"/>
                <a:cs typeface="Arial Unicode MS"/>
              </a:rPr>
              <a:t>逐阶段验证抓持、悬空保持、搬运与稳定投放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5B0FA-84F0-4BD4-8DB3-E768D9E8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19250"/>
            <a:ext cx="489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1536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5364B"/>
                </a:solidFill>
                <a:latin typeface="Arial Unicode MS"/>
                <a:ea typeface="Arial Unicode MS"/>
                <a:cs typeface="Arial Unicode MS"/>
              </a:rPr>
              <a:t>ECO65＋知行双视角仿真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6c57d8a5b4bec"/>
          <a:stretch xmlns:a="http://schemas.openxmlformats.org/drawingml/2006/main"/>
        </p:blipFill>
        <p:spPr>
          <a:xfrm xmlns:a="http://schemas.openxmlformats.org/drawingml/2006/main">
            <a:off x="6762750" y="2095500"/>
            <a:ext cx="4895850" cy="24479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F8FAE4-12A4-45C6-9795-30E6B83B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76775"/>
            <a:ext cx="489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6173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1737E"/>
                </a:solidFill>
                <a:latin typeface="Arial Unicode MS"/>
                <a:ea typeface="Arial Unicode MS"/>
                <a:cs typeface="Arial Unicode MS"/>
              </a:rPr>
              <a:t>主视角与腕部视角，罐体悬空搬运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871DC-83FC-4407-8C1B-C785EAA3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29225"/>
            <a:ext cx="489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126C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26C9A"/>
                </a:solidFill>
                <a:latin typeface="Arial Unicode MS"/>
                <a:ea typeface="Arial Unicode MS"/>
                <a:cs typeface="Arial Unicode MS"/>
              </a:rPr>
              <a:t>带载诊断链路可复核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5DF92F-4D8E-419C-A3DD-2B075E70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657850"/>
            <a:ext cx="4895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263E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63E4D"/>
                </a:solidFill>
                <a:latin typeface="Arial Unicode MS"/>
                <a:ea typeface="Arial Unicode MS"/>
                <a:cs typeface="Arial Unicode MS"/>
              </a:rPr>
              <a:t>CPU 隔离环境完成 14 次独立诊断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263E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63E4D"/>
                </a:solidFill>
                <a:latin typeface="Arial Unicode MS"/>
                <a:ea typeface="Arial Unicode MS"/>
                <a:cs typeface="Arial Unicode MS"/>
              </a:rPr>
              <a:t>全部正常退出，保留逐物理步数值证据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D6B6BE-BAE0-4EC9-A4FD-9678646A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6173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1737E"/>
                </a:solidFill>
                <a:latin typeface="Arial Unicode MS"/>
                <a:ea typeface="Arial Unicode MS"/>
                <a:cs typeface="Arial Unicode MS"/>
              </a:rPr>
              <a:t>数据截至 2026-10-02，配图来自 2026-10-04 后续仿真采集</a:t>
            </a:r>
          </a:p>
        </p:txBody>
      </p:sp>
    </p:spTree>
    <p:extLst>
      <p:ext uri="{BB962C8B-B14F-4D97-AF65-F5344CB8AC3E}">
        <p14:creationId xmlns:p14="http://schemas.microsoft.com/office/powerpoint/2010/main" val="14798530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33643-5DD2-4107-9876-F34B221D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536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5364B"/>
                </a:solidFill>
                <a:latin typeface="Arial Unicode MS"/>
                <a:ea typeface="Arial Unicode MS"/>
                <a:cs typeface="Arial Unicode MS"/>
              </a:rPr>
              <a:t>主要问题、解决措施与验证效果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9E56A-0ECE-4888-8732-261D0AC5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6173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37E"/>
                </a:solidFill>
                <a:latin typeface="Arial Unicode MS"/>
                <a:ea typeface="Arial Unicode MS"/>
                <a:cs typeface="Arial Unicode MS"/>
              </a:rPr>
              <a:t>先排除模型和控制链路异常，再验证实际抓放能力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33400" y="1381125"/>
          <a:ext xmlns:a="http://schemas.openxmlformats.org/drawingml/2006/main" cx="11125200" cy="4076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43200"/>
                <a:gridCol w="5753100"/>
                <a:gridCol w="2628900"/>
              </a:tblGrid>
              <a:tr h="41910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问题与表现</a:t>
                      </a:r>
                    </a:p>
                  </a:txBody>
                  <a:tcPr marL="114300" marR="95250" marT="47625" marB="47625" anchor="ctr">
                    <a:solidFill>
                      <a:srgbClr val="15364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解决措施</a:t>
                      </a:r>
                    </a:p>
                  </a:txBody>
                  <a:tcPr marL="114300" marR="95250" marT="47625" marB="47625" anchor="ctr">
                    <a:solidFill>
                      <a:srgbClr val="15364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验证效果</a:t>
                      </a:r>
                    </a:p>
                  </a:txBody>
                  <a:tcPr marL="114300" marR="95250" marT="47625" marB="47625" anchor="ctr">
                    <a:solidFill>
                      <a:srgbClr val="15364B"/>
                    </a:solidFill>
                  </a:tcPr>
                </a:tc>
              </a:tr>
              <a:tr h="60960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1">
                          <a:solidFill>
                            <a:srgbClr val="263E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基座与第一连杆</a:t>
                      </a:r>
                    </a:p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1">
                          <a:solidFill>
                            <a:srgbClr val="263E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持续自碰撞</a:t>
                      </a:r>
                    </a:p>
                  </a:txBody>
                  <a:tcPr marL="11430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0">
                          <a:solidFill>
                            <a:srgbClr val="263E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排除关节连接处该对刚体的碰撞</a:t>
                      </a:r>
                    </a:p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0">
                          <a:solidFill>
                            <a:srgbClr val="263E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保留其余自碰撞与环境碰撞</a:t>
                      </a:r>
                    </a:p>
                  </a:txBody>
                  <a:tcPr marL="11430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0">
                          <a:solidFill>
                            <a:srgbClr val="126C9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隔离控制测试</a:t>
                      </a:r>
                    </a:p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0">
                          <a:solidFill>
                            <a:srgbClr val="126C9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8/8 通过</a:t>
                      </a:r>
                    </a:p>
                  </a:txBody>
                  <a:tcPr marL="114300" marR="95250" marT="47625" marB="47625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1">
                          <a:solidFill>
                            <a:srgbClr val="263E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初始末端位姿</a:t>
                      </a:r>
                    </a:p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1">
                          <a:solidFill>
                            <a:srgbClr val="263E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偏差约 109 mm</a:t>
                      </a:r>
                    </a:p>
                  </a:txBody>
                  <a:tcPr marL="11430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0">
                          <a:solidFill>
                            <a:srgbClr val="263E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 6D IK 对齐初始工具位姿</a:t>
                      </a:r>
                    </a:p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0">
                          <a:solidFill>
                            <a:srgbClr val="263E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按实际挂载夹爪选择初始关节角</a:t>
                      </a:r>
                    </a:p>
                  </a:txBody>
                  <a:tcPr marL="11430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0">
                          <a:solidFill>
                            <a:srgbClr val="126C9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ECO65＋Panda 基线</a:t>
                      </a:r>
                    </a:p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0">
                          <a:solidFill>
                            <a:srgbClr val="126C9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6/10 提升至 9/10</a:t>
                      </a:r>
                    </a:p>
                  </a:txBody>
                  <a:tcPr marL="114300" marR="95250" marT="47625" marB="47625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1">
                          <a:solidFill>
                            <a:srgbClr val="263E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夹爪开合反向</a:t>
                      </a:r>
                    </a:p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1">
                          <a:solidFill>
                            <a:srgbClr val="263E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联动约束残差大</a:t>
                      </a:r>
                    </a:p>
                  </a:txBody>
                  <a:tcPr marL="11430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0">
                          <a:solidFill>
                            <a:srgbClr val="263E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统一 +1 闭合、−1 张开，修正六关节初始化</a:t>
                      </a:r>
                    </a:p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0">
                          <a:solidFill>
                            <a:srgbClr val="263E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验证配置的闭合目标累积步长采用 0.01</a:t>
                      </a:r>
                    </a:p>
                  </a:txBody>
                  <a:tcPr marL="11430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0">
                          <a:solidFill>
                            <a:srgbClr val="126C9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开合语义一致</a:t>
                      </a:r>
                    </a:p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0">
                          <a:solidFill>
                            <a:srgbClr val="126C9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闭环残差约 0.091 mm</a:t>
                      </a:r>
                    </a:p>
                  </a:txBody>
                  <a:tcPr marL="114300" marR="95250" marT="47625" marB="47625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1">
                          <a:solidFill>
                            <a:srgbClr val="263E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空载端点测力</a:t>
                      </a:r>
                    </a:p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1">
                          <a:solidFill>
                            <a:srgbClr val="263E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误判为夹爪无力</a:t>
                      </a:r>
                    </a:p>
                  </a:txBody>
                  <a:tcPr marL="11430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0">
                          <a:solidFill>
                            <a:srgbClr val="263E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逐物理步测双指接触力、滑移与外部支撑</a:t>
                      </a:r>
                    </a:p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0">
                          <a:solidFill>
                            <a:srgbClr val="263E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校验测力口径，再验证带载悬空保持 2 秒</a:t>
                      </a:r>
                    </a:p>
                  </a:txBody>
                  <a:tcPr marL="11430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0">
                          <a:solidFill>
                            <a:srgbClr val="126C9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左右指 12.27/11.36 N</a:t>
                      </a:r>
                    </a:p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0">
                          <a:solidFill>
                            <a:srgbClr val="126C9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双侧接触持续 100%</a:t>
                      </a:r>
                    </a:p>
                  </a:txBody>
                  <a:tcPr marL="114300" marR="95250" marT="47625" marB="47625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1">
                          <a:solidFill>
                            <a:srgbClr val="263E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长夹爪横移碰筐</a:t>
                      </a:r>
                    </a:p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1">
                          <a:solidFill>
                            <a:srgbClr val="263E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碗体抓点误判</a:t>
                      </a:r>
                    </a:p>
                  </a:txBody>
                  <a:tcPr marL="11430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0">
                          <a:solidFill>
                            <a:srgbClr val="263E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实际 TCP、夹爪和载荷包围盒共同计算净空</a:t>
                      </a:r>
                    </a:p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0">
                          <a:solidFill>
                            <a:srgbClr val="263E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分段抬升、横移、下降，碗采用局部碗沿夹持</a:t>
                      </a:r>
                    </a:p>
                  </a:txBody>
                  <a:tcPr marL="11430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0">
                          <a:solidFill>
                            <a:srgbClr val="126C9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相同试块场景</a:t>
                      </a:r>
                    </a:p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0">
                          <a:solidFill>
                            <a:srgbClr val="126C9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0/3 提升至 3/3</a:t>
                      </a:r>
                    </a:p>
                  </a:txBody>
                  <a:tcPr marL="114300" marR="95250" marT="47625" marB="47625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1">
                          <a:solidFill>
                            <a:srgbClr val="263E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额外关节 PD</a:t>
                      </a:r>
                    </a:p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1">
                          <a:solidFill>
                            <a:srgbClr val="263E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干扰末端跟踪</a:t>
                      </a:r>
                    </a:p>
                  </a:txBody>
                  <a:tcPr marL="11430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0">
                          <a:solidFill>
                            <a:srgbClr val="263E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授权 A/B 验证无额外 PD 配置，减小旋转放大</a:t>
                      </a:r>
                    </a:p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0">
                          <a:solidFill>
                            <a:srgbClr val="263E4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连续 5 步到位后切换，改善过冲与振荡</a:t>
                      </a:r>
                    </a:p>
                  </a:txBody>
                  <a:tcPr marL="11430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0">
                          <a:solidFill>
                            <a:srgbClr val="126C9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困难碗跟踪改善</a:t>
                      </a:r>
                    </a:p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725" b="0">
                          <a:solidFill>
                            <a:srgbClr val="126C9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仍保留失败定位</a:t>
                      </a:r>
                    </a:p>
                  </a:txBody>
                  <a:tcPr marL="114300" marR="9525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BE0C9-AF3E-483F-BDED-539B8332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325" b="1">
                <a:solidFill>
                  <a:srgbClr val="126C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26C9A"/>
                </a:solidFill>
                <a:latin typeface="Arial Unicode MS"/>
                <a:ea typeface="Arial Unicode MS"/>
                <a:cs typeface="Arial Unicode MS"/>
              </a:rPr>
              <a:t>原生仿真物体抓放独立验证：罐 10/10，碗 8/10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10C98-DA36-41EB-BC16-6F3987D8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15075"/>
            <a:ext cx="11125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6173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1737E"/>
                </a:solidFill>
                <a:latin typeface="Arial Unicode MS"/>
                <a:ea typeface="Arial Unicode MS"/>
                <a:cs typeface="Arial Unicode MS"/>
              </a:rPr>
              <a:t>该批碗两例失败位于初始化与接近阶段，每类至少 9/10 的门槛尚未满足。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6173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1737E"/>
                </a:solidFill>
                <a:latin typeface="Arial Unicode MS"/>
                <a:ea typeface="Arial Unicode MS"/>
                <a:cs typeface="Arial Unicode MS"/>
              </a:rPr>
              <a:t>结果限于仿真控制与脚本教师，完整策略适配及实机能力需另行评测。</a:t>
            </a:r>
          </a:p>
        </p:txBody>
      </p:sp>
    </p:spTree>
    <p:extLst>
      <p:ext uri="{BB962C8B-B14F-4D97-AF65-F5344CB8AC3E}">
        <p14:creationId xmlns:p14="http://schemas.microsoft.com/office/powerpoint/2010/main" val="20160377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2026-10-08T11:38:26.3350000Z</dcterms:created>
  <dcterms:modified xsi:type="dcterms:W3CDTF">2026-10-08T11:38:26.3350000Z</dcterms:modified>
</coreProperties>
</file>