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80b6c9991142de" /><Relationship Type="http://schemas.openxmlformats.org/officeDocument/2006/relationships/extended-properties" Target="/docProps/app.xml" Id="Rdaa5c8fb883f432d" /><Relationship Type="http://schemas.openxmlformats.org/officeDocument/2006/relationships/officeDocument" Target="/ppt/presentation.xml" Id="R26e39e600c734a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8033aefa494d60"/>
  </p:sldMasterIdLst>
  <p:notesMasterIdLst>
    <p:notesMasterId xmlns:r="http://schemas.openxmlformats.org/officeDocument/2006/relationships" r:id="Rce18e8c157bc45b8"/>
  </p:notesMasterIdLst>
  <p:sldIdLst>
    <p:sldId xmlns:r="http://schemas.openxmlformats.org/officeDocument/2006/relationships" id="256" r:id="Rdc201de7b1034660"/>
    <p:sldId xmlns:r="http://schemas.openxmlformats.org/officeDocument/2006/relationships" id="257" r:id="Rf2488603fdeb48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cc73ec3c30498c" /><Relationship Type="http://schemas.openxmlformats.org/officeDocument/2006/relationships/slideMaster" Target="/ppt/slideMasters/slideMaster1.xml" Id="R4c8033aefa494d60" /><Relationship Type="http://schemas.openxmlformats.org/officeDocument/2006/relationships/notesMaster" Target="/ppt/notesMasters/notesMaster1.xml" Id="Rce18e8c157bc45b8" /><Relationship Type="http://schemas.openxmlformats.org/officeDocument/2006/relationships/presProps" Target="/ppt/presProps.xml" Id="R3d906316ab5344f6" /><Relationship Type="http://schemas.openxmlformats.org/officeDocument/2006/relationships/tableStyles" Target="/ppt/tableStyles.xml" Id="Rd203a308c8224c7b" /><Relationship Type="http://schemas.openxmlformats.org/officeDocument/2006/relationships/slide" Target="/ppt/slides/slide1.xml" Id="Rdc201de7b1034660" /><Relationship Type="http://schemas.openxmlformats.org/officeDocument/2006/relationships/slide" Target="/ppt/slides/slide2.xml" Id="Rf2488603fdeb48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4aad022d5c4c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b65f3175704f16" /><Relationship Type="http://schemas.openxmlformats.org/officeDocument/2006/relationships/notesMaster" Target="/ppt/notesMasters/notesMaster1.xml" Id="Rcd7487cbbfec41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3188a445da4805" /><Relationship Type="http://schemas.openxmlformats.org/officeDocument/2006/relationships/notesMaster" Target="/ppt/notesMasters/notesMaster1.xml" Id="R524e688b5fe841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范围：仅展示量化部署工作。使用原始pi05_libero，不使用ECO65＋ZhiXing微调模型。</a:t>
            </a:r>
          </a:p>
          <a:p xmlns:a="http://schemas.openxmlformats.org/drawingml/2006/main">
            <a:r>
              <a:t>来源：/mnt/data/vla-policy/openpi/agent-work-space/6-model-inference/versions/trt_t0_t2_20261007_r1/T0-T2实施记录.md</a:t>
            </a:r>
          </a:p>
          <a:p xmlns:a="http://schemas.openxmlformats.org/drawingml/2006/main">
            <a:r>
              <a:t>来源：同根目录versions/trt_t3_20261007_r1/T3实施记录.md，以及versions/trt_t4_20261007_r1/T4闭环与资源对比记录.md</a:t>
            </a:r>
          </a:p>
          <a:p xmlns:a="http://schemas.openxmlformats.org/drawingml/2006/main">
            <a:r>
              <a:t>来源：同根目录versions/trt_full4_20261007_r1/全Linear量化快速验证结果.md，以及versions/a100_closedloop_20261008_r1/A100统一闭环测试记录.md</a:t>
            </a:r>
          </a:p>
          <a:p xmlns:a="http://schemas.openxmlformats.org/drawingml/2006/main">
            <a:r>
              <a:t>旧校准选2000条观测，128条为相关回归样本。新增视觉／专家快速校准使用200条已有观测且覆盖10个去噪时刻。</a:t>
            </a:r>
          </a:p>
          <a:p xmlns:a="http://schemas.openxmlformats.org/drawingml/2006/main">
            <a:r>
              <a:t>451表示图可达Linear，非所有参数。embedding、卷积、bias、norm等继续浮点。T1越界率增量1.116071个百分点高于1个百分点，用户允许推进不改判通过。</a:t>
            </a:r>
          </a:p>
          <a:p xmlns:a="http://schemas.openxmlformats.org/drawingml/2006/main">
            <a:r>
              <a:t>T4各组1000次连续推理、120集主闭环。T3原生引擎121/121源层实际执行，独立重载动作最大差0。A100五组各30集，150集。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来源：/mnt/data/vla-policy/openpi/agent-work-space/6-model-inference/versions/a100_comparison_20261008_r1/comparison.json</a:t>
            </a:r>
          </a:p>
          <a:p xmlns:a="http://schemas.openxmlformats.org/drawingml/2006/main">
            <a:r>
              <a:t>该文件SHA256：8decef2c9c08c7adde07f9cedf176cfe59668eac25fe2b78834e393a70c9f0ae</a:t>
            </a:r>
          </a:p>
          <a:p xmlns:a="http://schemas.openxmlformats.org/drawingml/2006/main">
            <a:r>
              <a:t>源A100测试manifest SHA256：68e55030753fd346559c69351f9d820fbee5133e25d350490ab256cc2a3a3cd3</a:t>
            </a:r>
          </a:p>
          <a:p xmlns:a="http://schemas.openxmlformats.org/drawingml/2006/main">
            <a:r>
              <a:t>相同初态、种子、控制器、10次去噪及同环境float对照。P99来自20次预热后128个预编码观测串行请求，模块均值不能与P99相加。</a:t>
            </a:r>
          </a:p>
          <a:p xmlns:a="http://schemas.openxmlformats.org/drawingml/2006/main">
            <a:r>
              <a:t>原始PyTorch本轮A100未测，因此没有混入历史4090的24/30、8.26GB、241.86ms。</a:t>
            </a:r>
          </a:p>
          <a:p xmlns:a="http://schemas.openxmlformats.org/drawingml/2006/main">
            <a:r>
              <a:t>同输入模块均值ms：float 13.34/21.86/42.42，旧AWQ 13.17/26.58/42.01，旧GPTQ 13.24/25.44/42.18，全AWQ 17.57/26.59/49.31，全GPTQ 16.03/25.36/48.36，分别为vision、prefix、10轮expert。</a:t>
            </a:r>
          </a:p>
          <a:p xmlns:a="http://schemas.openxmlformats.org/drawingml/2006/main">
            <a:r>
              <a:t>按用户表格舍入值：全AWQ视觉/专家增量4.40/7.30ms，全GPTQ2.79/6.18ms。prefix基本不变。全AWQ请求P99增加14.9%，全GPTQ增加8.6%。</a:t>
            </a:r>
          </a:p>
          <a:p xmlns:a="http://schemas.openxmlformats.org/drawingml/2006/main">
            <a:r>
              <a:t>来源：versions/project_summary_20261008_r1/summary_evidence.json的A100引擎统计。视觉各55个可识别独立DQ，动作专家各77个，后接浮点GEMM。额外开销各占多少ms未做逐kernel归因。</a:t>
            </a:r>
          </a:p>
          <a:p xmlns:a="http://schemas.openxmlformats.org/drawingml/2006/main">
            <a:r>
              <a:t>TensorRT官方INT4 WoQ：https://docs.nvidia.com/deeplearning/tensorrt/10.x.x/inference-library/work-quantized-types.html#weight-only-quantization</a:t>
            </a:r>
          </a:p>
          <a:p xmlns:a="http://schemas.openxmlformats.org/drawingml/2006/main">
            <a:r>
              <a:t>全GPTQ闭环29/30但旧128观测运动P99=0.051847、夹爪分歧15/1280超限，新30初态越界增量+4.809524pp超限。旧GPTQ夹爪7/1280超限。AWQ数值通过但闭环&lt;27/30。</a:t>
            </a:r>
          </a:p>
          <a:p xmlns:a="http://schemas.openxmlformats.org/drawingml/2006/main">
            <a:r>
              <a:t>20Hz目标为完整单请求P99≤50ms及串行处理能力≥20组/s，目前尚未达到。仿真时间20Hz不能替代推理验收。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a9a71c33d84e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4f1878ca62411b" /><Relationship Type="http://schemas.openxmlformats.org/officeDocument/2006/relationships/slideLayout" Target="/ppt/slideLayouts/slideLayout1.xml" Id="R2e4f2d6facbf42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4f2d6facbf42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83d54d7b84094" /><Relationship Type="http://schemas.openxmlformats.org/officeDocument/2006/relationships/notesSlide" Target="/ppt/notesSlides/notesSlide1.xml" Id="R2f18616460c24b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01fef16e248ab" /><Relationship Type="http://schemas.openxmlformats.org/officeDocument/2006/relationships/notesSlide" Target="/ppt/notesSlides/notesSlide2.xml" Id="Rb7ca5d4a40ce42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1485BC0A-D4CA-4BAD-AC01-AE669958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72D45"/>
                </a:solidFill>
                <a:latin typeface="Heiti TC"/>
                <a:ea typeface="Heiti TC"/>
                <a:cs typeface="Heiti TC"/>
              </a:defRPr>
            </a:pPr>
            <a:r>
              <a:rPr sz="4200" b="1">
                <a:solidFill>
                  <a:srgbClr val="172D45"/>
                </a:solidFill>
                <a:latin typeface="Heiti TC"/>
                <a:ea typeface="Heiti TC"/>
                <a:cs typeface="Heiti TC"/>
              </a:rPr>
              <a:t>π0.5 TensorRT 量化部署</a:t>
            </a:r>
          </a:p>
        </p:txBody>
      </p:sp>
      <p:sp>
        <p:nvSpPr>
          <p:cNvPr id="2" name="scope">
            <a:extLst xmlns:a="http://schemas.openxmlformats.org/drawingml/2006/main">
              <a:ext uri="{FF2B5EF4-FFF2-40B4-BE49-F238E27FC236}">
                <a16:creationId xmlns:a16="http://schemas.microsoft.com/office/drawing/2014/main" id="{E01E1D3C-591E-4F05-BA5E-49E53B3A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77A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6677A"/>
                </a:solidFill>
                <a:latin typeface="Heiti TC"/>
                <a:ea typeface="Heiti TC"/>
                <a:cs typeface="Heiti TC"/>
              </a:rPr>
              <a:t>原始 pi05_libero 权重，采用 AWQ／GPTQ INT4，Panda＋PandaGripper 验证</a:t>
            </a:r>
          </a:p>
        </p:txBody>
      </p:sp>
      <p:sp>
        <p:nvSpPr>
          <p:cNvPr id="3" name="route-heading">
            <a:extLst xmlns:a="http://schemas.openxmlformats.org/drawingml/2006/main">
              <a:ext uri="{FF2B5EF4-FFF2-40B4-BE49-F238E27FC236}">
                <a16:creationId xmlns:a16="http://schemas.microsoft.com/office/drawing/2014/main" id="{DE208392-650F-4BBE-BED1-A08CB61E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A75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7A75"/>
                </a:solidFill>
                <a:latin typeface="Heiti TC"/>
                <a:ea typeface="Heiti TC"/>
                <a:cs typeface="Heiti TC"/>
              </a:rPr>
              <a:t>技术路线</a:t>
            </a:r>
          </a:p>
        </p:txBody>
      </p:sp>
      <p:sp>
        <p:nvSpPr>
          <p:cNvPr id="4" name="route-1">
            <a:extLst xmlns:a="http://schemas.openxmlformats.org/drawingml/2006/main">
              <a:ext uri="{FF2B5EF4-FFF2-40B4-BE49-F238E27FC236}">
                <a16:creationId xmlns:a16="http://schemas.microsoft.com/office/drawing/2014/main" id="{04643B7D-84C7-4487-9FBD-BACF3392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A8B9C8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>
                <a:solidFill>
                  <a:srgbClr val="172D45"/>
                </a:solidFill>
                <a:latin typeface="Heiti TC"/>
                <a:ea typeface="Heiti TC"/>
                <a:cs typeface="Heiti TC"/>
              </a:defRPr>
            </a:pPr>
            <a:r>
              <a:rPr sz="1763" b="0">
                <a:solidFill>
                  <a:srgbClr val="172D45"/>
                </a:solidFill>
                <a:latin typeface="Heiti TC"/>
                <a:ea typeface="Heiti TC"/>
                <a:cs typeface="Heiti TC"/>
              </a:rPr>
              <a:t>原始 π0.5</a:t>
            </a:r>
          </a:p>
          <a:p xmlns:a="http://schemas.openxmlformats.org/drawingml/2006/main">
            <a:pPr algn="ctr">
              <a:defRPr sz="1763" b="0">
                <a:solidFill>
                  <a:srgbClr val="172D45"/>
                </a:solidFill>
                <a:latin typeface="Heiti TC"/>
                <a:ea typeface="Heiti TC"/>
                <a:cs typeface="Heiti TC"/>
              </a:defRPr>
            </a:pPr>
            <a:r>
              <a:rPr sz="1763" b="0">
                <a:solidFill>
                  <a:srgbClr val="172D45"/>
                </a:solidFill>
                <a:latin typeface="Heiti TC"/>
                <a:ea typeface="Heiti TC"/>
                <a:cs typeface="Heiti TC"/>
              </a:rPr>
              <a:t>浮点权重</a:t>
            </a:r>
          </a:p>
        </p:txBody>
      </p:sp>
      <p:sp>
        <p:nvSpPr>
          <p:cNvPr id="5" name="route-2">
            <a:extLst xmlns:a="http://schemas.openxmlformats.org/drawingml/2006/main">
              <a:ext uri="{FF2B5EF4-FFF2-40B4-BE49-F238E27FC236}">
                <a16:creationId xmlns:a16="http://schemas.microsoft.com/office/drawing/2014/main" id="{E583BFBE-BE0A-463A-A824-0D4B2113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0025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A8B9C8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>
                <a:solidFill>
                  <a:srgbClr val="172D45"/>
                </a:solidFill>
                <a:latin typeface="Heiti TC"/>
                <a:ea typeface="Heiti TC"/>
                <a:cs typeface="Heiti TC"/>
              </a:defRPr>
            </a:pPr>
            <a:r>
              <a:rPr sz="1763" b="0">
                <a:solidFill>
                  <a:srgbClr val="172D45"/>
                </a:solidFill>
                <a:latin typeface="Heiti TC"/>
                <a:ea typeface="Heiti TC"/>
                <a:cs typeface="Heiti TC"/>
              </a:rPr>
              <a:t>真实任务观测</a:t>
            </a:r>
          </a:p>
          <a:p xmlns:a="http://schemas.openxmlformats.org/drawingml/2006/main">
            <a:pPr algn="ctr">
              <a:defRPr sz="1763" b="0">
                <a:solidFill>
                  <a:srgbClr val="172D45"/>
                </a:solidFill>
                <a:latin typeface="Heiti TC"/>
                <a:ea typeface="Heiti TC"/>
                <a:cs typeface="Heiti TC"/>
              </a:defRPr>
            </a:pPr>
            <a:r>
              <a:rPr sz="1763" b="0">
                <a:solidFill>
                  <a:srgbClr val="172D45"/>
                </a:solidFill>
                <a:latin typeface="Heiti TC"/>
                <a:ea typeface="Heiti TC"/>
                <a:cs typeface="Heiti TC"/>
              </a:rPr>
              <a:t>校准激活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324100" y="235267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A75"/>
            </a:solidFill>
            <a:tailEnd type="triangle" w="med" len="med"/>
          </a:ln>
        </p:spPr>
      </p:cxnSp>
      <p:sp>
        <p:nvSpPr>
          <p:cNvPr id="7" name="route-3">
            <a:extLst xmlns:a="http://schemas.openxmlformats.org/drawingml/2006/main">
              <a:ext uri="{FF2B5EF4-FFF2-40B4-BE49-F238E27FC236}">
                <a16:creationId xmlns:a16="http://schemas.microsoft.com/office/drawing/2014/main" id="{E5D95EFA-1C8F-4AB3-BC9D-6D9BB70D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002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A8B9C8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>
                <a:solidFill>
                  <a:srgbClr val="172D45"/>
                </a:solidFill>
                <a:latin typeface="Heiti TC"/>
                <a:ea typeface="Heiti TC"/>
                <a:cs typeface="Heiti TC"/>
              </a:defRPr>
            </a:pPr>
            <a:r>
              <a:rPr sz="1763" b="1">
                <a:solidFill>
                  <a:srgbClr val="172D45"/>
                </a:solidFill>
                <a:latin typeface="Heiti TC"/>
                <a:ea typeface="Heiti TC"/>
                <a:cs typeface="Heiti TC"/>
              </a:rPr>
              <a:t>AWQ／GPTQ</a:t>
            </a:r>
          </a:p>
          <a:p xmlns:a="http://schemas.openxmlformats.org/drawingml/2006/main">
            <a:pPr algn="ctr">
              <a:defRPr sz="1763" b="1">
                <a:solidFill>
                  <a:srgbClr val="172D45"/>
                </a:solidFill>
                <a:latin typeface="Heiti TC"/>
                <a:ea typeface="Heiti TC"/>
                <a:cs typeface="Heiti TC"/>
              </a:defRPr>
            </a:pPr>
            <a:r>
              <a:rPr sz="1763" b="1">
                <a:solidFill>
                  <a:srgbClr val="172D45"/>
                </a:solidFill>
                <a:latin typeface="Heiti TC"/>
                <a:ea typeface="Heiti TC"/>
                <a:cs typeface="Heiti TC"/>
              </a:rPr>
              <a:t>INT4 权重量化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410075" y="235267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A75"/>
            </a:solidFill>
            <a:tailEnd type="triangle" w="med" len="med"/>
          </a:ln>
        </p:spPr>
      </p:cxnSp>
      <p:sp>
        <p:nvSpPr>
          <p:cNvPr id="9" name="route-4">
            <a:extLst xmlns:a="http://schemas.openxmlformats.org/drawingml/2006/main">
              <a:ext uri="{FF2B5EF4-FFF2-40B4-BE49-F238E27FC236}">
                <a16:creationId xmlns:a16="http://schemas.microsoft.com/office/drawing/2014/main" id="{7E2ED2C6-BA11-4EE0-BBE7-4ABCFBD5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0025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A8B9C8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>
                <a:solidFill>
                  <a:srgbClr val="172D45"/>
                </a:solidFill>
                <a:latin typeface="Heiti TC"/>
                <a:ea typeface="Heiti TC"/>
                <a:cs typeface="Heiti TC"/>
              </a:defRPr>
            </a:pPr>
            <a:r>
              <a:rPr sz="1763" b="0">
                <a:solidFill>
                  <a:srgbClr val="172D45"/>
                </a:solidFill>
                <a:latin typeface="Heiti TC"/>
                <a:ea typeface="Heiti TC"/>
                <a:cs typeface="Heiti TC"/>
              </a:rPr>
              <a:t>ONNX 导出</a:t>
            </a:r>
          </a:p>
          <a:p xmlns:a="http://schemas.openxmlformats.org/drawingml/2006/main">
            <a:pPr algn="ctr">
              <a:defRPr sz="1763" b="0">
                <a:solidFill>
                  <a:srgbClr val="172D45"/>
                </a:solidFill>
                <a:latin typeface="Heiti TC"/>
                <a:ea typeface="Heiti TC"/>
                <a:cs typeface="Heiti TC"/>
              </a:defRPr>
            </a:pPr>
            <a:r>
              <a:rPr sz="1763" b="0">
                <a:solidFill>
                  <a:srgbClr val="172D45"/>
                </a:solidFill>
                <a:latin typeface="Heiti TC"/>
                <a:ea typeface="Heiti TC"/>
                <a:cs typeface="Heiti TC"/>
              </a:rPr>
              <a:t>TensorRT 引擎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877050" y="235267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A75"/>
            </a:solidFill>
            <a:tailEnd type="triangle" w="med" len="med"/>
          </a:ln>
        </p:spPr>
      </p:cxnSp>
      <p:sp>
        <p:nvSpPr>
          <p:cNvPr id="11" name="route-5">
            <a:extLst xmlns:a="http://schemas.openxmlformats.org/drawingml/2006/main">
              <a:ext uri="{FF2B5EF4-FFF2-40B4-BE49-F238E27FC236}">
                <a16:creationId xmlns:a16="http://schemas.microsoft.com/office/drawing/2014/main" id="{8795680A-A12D-4096-8837-C6B7EB9A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00250"/>
            <a:ext cx="1771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A8B9C8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0">
                <a:solidFill>
                  <a:srgbClr val="172D45"/>
                </a:solidFill>
                <a:latin typeface="Heiti TC"/>
                <a:ea typeface="Heiti TC"/>
                <a:cs typeface="Heiti TC"/>
              </a:defRPr>
            </a:pPr>
            <a:r>
              <a:rPr sz="1763" b="0">
                <a:solidFill>
                  <a:srgbClr val="172D45"/>
                </a:solidFill>
                <a:latin typeface="Heiti TC"/>
                <a:ea typeface="Heiti TC"/>
                <a:cs typeface="Heiti TC"/>
              </a:rPr>
              <a:t>完整推理</a:t>
            </a:r>
          </a:p>
          <a:p xmlns:a="http://schemas.openxmlformats.org/drawingml/2006/main">
            <a:pPr algn="ctr">
              <a:defRPr sz="1763" b="0">
                <a:solidFill>
                  <a:srgbClr val="172D45"/>
                </a:solidFill>
                <a:latin typeface="Heiti TC"/>
                <a:ea typeface="Heiti TC"/>
                <a:cs typeface="Heiti TC"/>
              </a:defRPr>
            </a:pPr>
            <a:r>
              <a:rPr sz="1763" b="0">
                <a:solidFill>
                  <a:srgbClr val="172D45"/>
                </a:solidFill>
                <a:latin typeface="Heiti TC"/>
                <a:ea typeface="Heiti TC"/>
                <a:cs typeface="Heiti TC"/>
              </a:rPr>
              <a:t>LIBERO 闭环</a:t>
            </a:r>
          </a:p>
        </p:txBody>
      </p:sp>
      <p:cxnSp>
        <p:nvCxnSpPr>
          <p:cNvPr id="28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534525" y="235267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A75"/>
            </a:solidFill>
            <a:tailEnd type="triangle" w="med" len="med"/>
          </a:ln>
        </p:spPr>
      </p:cxnSp>
      <p:graphicFrame>
        <p:nvGraphicFramePr>
          <p:cNvPr id="29" name=""/>
          <p:cNvGraphicFramePr/>
          <p:nvPr/>
        </p:nvGraphicFramePr>
        <p:xfrm>
          <a:off xmlns:a="http://schemas.openxmlformats.org/drawingml/2006/main" x="609600" y="2943225"/>
          <a:ext xmlns:a="http://schemas.openxmlformats.org/drawingml/2006/main" cx="10972800" cy="2343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5238750"/>
                <a:gridCol w="3448050"/>
              </a:tblGrid>
              <a:tr h="46863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阶段</a:t>
                      </a:r>
                    </a:p>
                  </a:txBody>
                  <a:tcPr marL="171450" marR="133350" marT="85725" marB="85725" anchor="ctr">
                    <a:solidFill>
                      <a:srgbClr val="172D4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已完成工作</a:t>
                      </a:r>
                    </a:p>
                  </a:txBody>
                  <a:tcPr marL="171450" marR="133350" marT="85725" marB="85725" anchor="ctr">
                    <a:solidFill>
                      <a:srgbClr val="172D4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执行证据</a:t>
                      </a:r>
                    </a:p>
                  </a:txBody>
                  <a:tcPr marL="171450" marR="133350" marT="85725" marB="85725" anchor="ctr">
                    <a:solidFill>
                      <a:srgbClr val="172D45"/>
                    </a:solidFill>
                  </a:tcPr>
                </a:tc>
              </a:tr>
              <a:tr h="46863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763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T0–T1 浮点基线</a:t>
                      </a:r>
                    </a:p>
                  </a:txBody>
                  <a:tcPr marL="1714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763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固定三模块接口，保留 10 轮去噪</a:t>
                      </a:r>
                    </a:p>
                  </a:txBody>
                  <a:tcPr marL="1714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763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同环境 TensorRT float</a:t>
                      </a:r>
                    </a:p>
                  </a:txBody>
                  <a:tcPr marL="171450" marR="133350" marT="85725" marB="85725" anchor="ctr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763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T2 量化校准</a:t>
                      </a:r>
                    </a:p>
                  </a:txBody>
                  <a:tcPr marL="171450" marR="133350" marT="85725" marB="85725" anchor="ctr">
                    <a:solidFill>
                      <a:srgbClr val="F1F6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763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2,000 条观测校准，逐层打包核验</a:t>
                      </a:r>
                    </a:p>
                  </a:txBody>
                  <a:tcPr marL="171450" marR="133350" marT="85725" marB="85725" anchor="ctr">
                    <a:solidFill>
                      <a:srgbClr val="F1F6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763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旧 prefix：121 个 Linear</a:t>
                      </a:r>
                    </a:p>
                  </a:txBody>
                  <a:tcPr marL="171450" marR="133350" marT="85725" marB="85725" anchor="ctr">
                    <a:solidFill>
                      <a:srgbClr val="F1F6F8"/>
                    </a:solidFill>
                  </a:tcPr>
                </a:tc>
              </a:tr>
              <a:tr h="46863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763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T3–T4 部署验证</a:t>
                      </a:r>
                    </a:p>
                  </a:txBody>
                  <a:tcPr marL="1714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763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原生引擎、独立重载与资源测量</a:t>
                      </a:r>
                    </a:p>
                  </a:txBody>
                  <a:tcPr marL="1714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763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121/121 源层实际执行</a:t>
                      </a:r>
                    </a:p>
                  </a:txBody>
                  <a:tcPr marL="171450" marR="133350" marT="85725" marB="85725" anchor="ctr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763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全 Linear／A100</a:t>
                      </a:r>
                    </a:p>
                  </a:txBody>
                  <a:tcPr marL="171450" marR="133350" marT="85725" marB="85725" anchor="ctr">
                    <a:solidFill>
                      <a:srgbClr val="F1F6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763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扩展视觉与动作专家，重建 9 个引擎</a:t>
                      </a:r>
                    </a:p>
                  </a:txBody>
                  <a:tcPr marL="171450" marR="133350" marT="85725" marB="85725" anchor="ctr">
                    <a:solidFill>
                      <a:srgbClr val="F1F6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763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451 个 Linear，150 集闭环</a:t>
                      </a:r>
                    </a:p>
                  </a:txBody>
                  <a:tcPr marL="171450" marR="133350" marT="85725" marB="85725" anchor="ctr"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14" name="issue-export">
            <a:extLst xmlns:a="http://schemas.openxmlformats.org/drawingml/2006/main">
              <a:ext uri="{FF2B5EF4-FFF2-40B4-BE49-F238E27FC236}">
                <a16:creationId xmlns:a16="http://schemas.microsoft.com/office/drawing/2014/main" id="{83E41A8B-A7D6-465F-B9B2-B782E57C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D45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72D45"/>
                </a:solidFill>
                <a:latin typeface="Heiti TC"/>
                <a:ea typeface="Heiti TC"/>
                <a:cs typeface="Heiti TC"/>
              </a:rPr>
              <a:t>导出与兼容：修复 opset／类型问题，按 A100 硬件重新构建引擎</a:t>
            </a:r>
          </a:p>
        </p:txBody>
      </p:sp>
      <p:sp>
        <p:nvSpPr>
          <p:cNvPr id="15" name="issue-audit">
            <a:extLst xmlns:a="http://schemas.openxmlformats.org/drawingml/2006/main">
              <a:ext uri="{FF2B5EF4-FFF2-40B4-BE49-F238E27FC236}">
                <a16:creationId xmlns:a16="http://schemas.microsoft.com/office/drawing/2014/main" id="{6ED62597-4EA8-46ED-AB5F-1C1D1C04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D45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72D45"/>
                </a:solidFill>
                <a:latin typeface="Heiti TC"/>
                <a:ea typeface="Heiti TC"/>
                <a:cs typeface="Heiti TC"/>
              </a:rPr>
              <a:t>执行与精度：追踪编译融合后的源层，保留夹爪边界漂移失败项</a:t>
            </a:r>
          </a:p>
        </p:txBody>
      </p:sp>
      <p:sp>
        <p:nvSpPr>
          <p:cNvPr id="16" name="scope-note">
            <a:extLst xmlns:a="http://schemas.openxmlformats.org/drawingml/2006/main">
              <a:ext uri="{FF2B5EF4-FFF2-40B4-BE49-F238E27FC236}">
                <a16:creationId xmlns:a16="http://schemas.microsoft.com/office/drawing/2014/main" id="{BF36D578-C5A4-48C7-A09C-2DFAF443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77A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56677A"/>
                </a:solidFill>
                <a:latin typeface="Heiti TC"/>
                <a:ea typeface="Heiti TC"/>
                <a:cs typeface="Heiti TC"/>
              </a:rPr>
              <a:t>非 Linear 参数与激活保留浮点，控制器和 10 轮去噪设置保持不变</a:t>
            </a:r>
          </a:p>
        </p:txBody>
      </p:sp>
    </p:spTree>
    <p:extLst>
      <p:ext uri="{BB962C8B-B14F-4D97-AF65-F5344CB8AC3E}">
        <p14:creationId xmlns:p14="http://schemas.microsoft.com/office/powerpoint/2010/main" val="20198155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80DB3F64-803A-4B7B-9128-692860F6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D45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72D45"/>
                </a:solidFill>
                <a:latin typeface="Heiti TC"/>
                <a:ea typeface="Heiti TC"/>
                <a:cs typeface="Heiti TC"/>
              </a:rPr>
              <a:t>量化压缩有效，全 Linear 推理更慢</a:t>
            </a:r>
          </a:p>
        </p:txBody>
      </p:sp>
      <p:sp>
        <p:nvSpPr>
          <p:cNvPr id="2" name="setup">
            <a:extLst xmlns:a="http://schemas.openxmlformats.org/drawingml/2006/main">
              <a:ext uri="{FF2B5EF4-FFF2-40B4-BE49-F238E27FC236}">
                <a16:creationId xmlns:a16="http://schemas.microsoft.com/office/drawing/2014/main" id="{F22BEE8E-0553-45EE-B98F-227F34DF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77A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6677A"/>
                </a:solidFill>
                <a:latin typeface="Heiti TC"/>
                <a:ea typeface="Heiti TC"/>
                <a:cs typeface="Heiti TC"/>
              </a:rPr>
              <a:t>A100-SXM4-40GB，LIBERO Spatial，每模型 10 个任务 × 3 个固定初态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714750"/>
                <a:gridCol w="2743200"/>
                <a:gridCol w="2095500"/>
                <a:gridCol w="2419350"/>
              </a:tblGrid>
              <a:tr h="47625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模型</a:t>
                      </a:r>
                    </a:p>
                  </a:txBody>
                  <a:tcPr marL="171450" marR="133350" marT="85725" marB="85725" anchor="ctr">
                    <a:solidFill>
                      <a:srgbClr val="172D4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闭环成功率</a:t>
                      </a:r>
                    </a:p>
                  </a:txBody>
                  <a:tcPr marL="171450" marR="133350" marT="85725" marB="85725" anchor="ctr">
                    <a:solidFill>
                      <a:srgbClr val="172D4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设备显存峰值</a:t>
                      </a:r>
                    </a:p>
                  </a:txBody>
                  <a:tcPr marL="171450" marR="133350" marT="85725" marB="85725" anchor="ctr">
                    <a:solidFill>
                      <a:srgbClr val="172D4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请求 P99</a:t>
                      </a:r>
                    </a:p>
                  </a:txBody>
                  <a:tcPr marL="171450" marR="133350" marT="85725" marB="85725" anchor="ctr">
                    <a:solidFill>
                      <a:srgbClr val="172D45"/>
                    </a:solidFill>
                  </a:tcPr>
                </a:tc>
              </a:tr>
              <a:tr h="47625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TensorRT float</a:t>
                      </a:r>
                    </a:p>
                  </a:txBody>
                  <a:tcPr marL="1714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25/30，83.3%</a:t>
                      </a:r>
                    </a:p>
                  </a:txBody>
                  <a:tcPr marL="1714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8.12 GB</a:t>
                      </a:r>
                    </a:p>
                  </a:txBody>
                  <a:tcPr marL="1714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93.23 ms</a:t>
                      </a:r>
                    </a:p>
                  </a:txBody>
                  <a:tcPr marL="171450" marR="133350" marT="85725" marB="85725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旧 AWQ（prefix）</a:t>
                      </a:r>
                    </a:p>
                  </a:txBody>
                  <a:tcPr marL="171450" marR="133350" marT="85725" marB="85725" anchor="ctr">
                    <a:solidFill>
                      <a:srgbClr val="F1F6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25/30，83.3%</a:t>
                      </a:r>
                    </a:p>
                  </a:txBody>
                  <a:tcPr marL="171450" marR="133350" marT="85725" marB="85725" anchor="ctr">
                    <a:solidFill>
                      <a:srgbClr val="F1F6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5.49 GB</a:t>
                      </a:r>
                    </a:p>
                  </a:txBody>
                  <a:tcPr marL="171450" marR="133350" marT="85725" marB="85725" anchor="ctr">
                    <a:solidFill>
                      <a:srgbClr val="F1F6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92.93 ms</a:t>
                      </a:r>
                    </a:p>
                  </a:txBody>
                  <a:tcPr marL="171450" marR="133350" marT="85725" marB="85725" anchor="ctr">
                    <a:solidFill>
                      <a:srgbClr val="F1F6F8"/>
                    </a:solidFill>
                  </a:tcPr>
                </a:tc>
              </a:tr>
              <a:tr h="47625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旧 GPTQ（prefix）</a:t>
                      </a:r>
                    </a:p>
                  </a:txBody>
                  <a:tcPr marL="1714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27/30，90.0%</a:t>
                      </a:r>
                    </a:p>
                  </a:txBody>
                  <a:tcPr marL="1714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5.44 GB</a:t>
                      </a:r>
                    </a:p>
                  </a:txBody>
                  <a:tcPr marL="1714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93.73 ms</a:t>
                      </a:r>
                    </a:p>
                  </a:txBody>
                  <a:tcPr marL="171450" marR="133350" marT="85725" marB="85725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全 Linear AWQ</a:t>
                      </a:r>
                    </a:p>
                  </a:txBody>
                  <a:tcPr marL="171450" marR="133350" marT="85725" marB="85725" anchor="ctr">
                    <a:solidFill>
                      <a:srgbClr val="F1F6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24/30，80.0%</a:t>
                      </a:r>
                    </a:p>
                  </a:txBody>
                  <a:tcPr marL="171450" marR="133350" marT="85725" marB="85725" anchor="ctr">
                    <a:solidFill>
                      <a:srgbClr val="F1F6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07A75"/>
                          </a:solidFill>
                          <a:latin typeface="Heiti TC"/>
                          <a:ea typeface="Heiti TC"/>
                          <a:cs typeface="Heiti TC"/>
                        </a:rPr>
                        <a:t>4.47 GB</a:t>
                      </a:r>
                    </a:p>
                  </a:txBody>
                  <a:tcPr marL="171450" marR="133350" marT="85725" marB="85725" anchor="ctr">
                    <a:solidFill>
                      <a:srgbClr val="F1F6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A45122"/>
                          </a:solidFill>
                          <a:latin typeface="Heiti TC"/>
                          <a:ea typeface="Heiti TC"/>
                          <a:cs typeface="Heiti TC"/>
                        </a:rPr>
                        <a:t>106.76 ms</a:t>
                      </a:r>
                    </a:p>
                  </a:txBody>
                  <a:tcPr marL="171450" marR="133350" marT="85725" marB="85725" anchor="ctr">
                    <a:solidFill>
                      <a:srgbClr val="F1F6F8"/>
                    </a:solidFill>
                  </a:tcPr>
                </a:tc>
              </a:tr>
              <a:tr h="47625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全 Linear GPTQ</a:t>
                      </a:r>
                    </a:p>
                  </a:txBody>
                  <a:tcPr marL="1714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Heiti TC"/>
                          <a:ea typeface="Heiti TC"/>
                          <a:cs typeface="Heiti TC"/>
                        </a:rPr>
                        <a:t>29/30，96.7%</a:t>
                      </a:r>
                    </a:p>
                  </a:txBody>
                  <a:tcPr marL="1714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07A75"/>
                          </a:solidFill>
                          <a:latin typeface="Heiti TC"/>
                          <a:ea typeface="Heiti TC"/>
                          <a:cs typeface="Heiti TC"/>
                        </a:rPr>
                        <a:t>4.47 GB</a:t>
                      </a:r>
                    </a:p>
                  </a:txBody>
                  <a:tcPr marL="1714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A45122"/>
                          </a:solidFill>
                          <a:latin typeface="Heiti TC"/>
                          <a:ea typeface="Heiti TC"/>
                          <a:cs typeface="Heiti TC"/>
                        </a:rPr>
                        <a:t>101.78 ms</a:t>
                      </a:r>
                    </a:p>
                  </a:txBody>
                  <a:tcPr marL="171450" marR="13335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main-result">
            <a:extLst xmlns:a="http://schemas.openxmlformats.org/drawingml/2006/main">
              <a:ext uri="{FF2B5EF4-FFF2-40B4-BE49-F238E27FC236}">
                <a16:creationId xmlns:a16="http://schemas.microsoft.com/office/drawing/2014/main" id="{FF25E6AE-B557-44FF-93CB-68A5B5AF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A75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007A75"/>
                </a:solidFill>
                <a:latin typeface="Heiti TC"/>
                <a:ea typeface="Heiti TC"/>
                <a:cs typeface="Heiti TC"/>
              </a:rPr>
              <a:t>全量化相对旧量化：显存约降 18%，请求 P99 增加约 9%–15%</a:t>
            </a:r>
          </a:p>
        </p:txBody>
      </p:sp>
      <p:sp>
        <p:nvSpPr>
          <p:cNvPr id="5" name="cause">
            <a:extLst xmlns:a="http://schemas.openxmlformats.org/drawingml/2006/main">
              <a:ext uri="{FF2B5EF4-FFF2-40B4-BE49-F238E27FC236}">
                <a16:creationId xmlns:a16="http://schemas.microsoft.com/office/drawing/2014/main" id="{74B6AF2C-C236-4A69-9CA7-24C10A9F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D45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72D45"/>
                </a:solidFill>
                <a:latin typeface="Heiti TC"/>
                <a:ea typeface="Heiti TC"/>
                <a:cs typeface="Heiti TC"/>
              </a:rPr>
              <a:t>新增耗时集中在视觉编码与 10 轮动作专家</a:t>
            </a:r>
          </a:p>
          <a:p xmlns:a="http://schemas.openxmlformats.org/drawingml/2006/main">
            <a:pPr algn="l">
              <a:defRPr sz="1800" b="0">
                <a:solidFill>
                  <a:srgbClr val="172D45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72D45"/>
                </a:solidFill>
                <a:latin typeface="Heiti TC"/>
                <a:ea typeface="Heiti TC"/>
                <a:cs typeface="Heiti TC"/>
              </a:rPr>
              <a:t>引擎中的反量化、浮点权重读写及融合差异可解释额外开销</a:t>
            </a:r>
          </a:p>
        </p:txBody>
      </p:sp>
      <p:sp>
        <p:nvSpPr>
          <p:cNvPr id="6" name="acceptance">
            <a:extLst xmlns:a="http://schemas.openxmlformats.org/drawingml/2006/main">
              <a:ext uri="{FF2B5EF4-FFF2-40B4-BE49-F238E27FC236}">
                <a16:creationId xmlns:a16="http://schemas.microsoft.com/office/drawing/2014/main" id="{FD570796-9AC5-42E9-81DF-8C1D2E7E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45122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A45122"/>
                </a:solidFill>
                <a:latin typeface="Heiti TC"/>
                <a:ea typeface="Heiti TC"/>
                <a:cs typeface="Heiti TC"/>
              </a:rPr>
              <a:t>GPTQ 数值门槛未通过，AWQ 闭环未达 27/30，20 Hz 与实机尚未验收</a:t>
            </a:r>
          </a:p>
        </p:txBody>
      </p:sp>
      <p:sp>
        <p:nvSpPr>
          <p:cNvPr id="7" name="measurement-note">
            <a:extLst xmlns:a="http://schemas.openxmlformats.org/drawingml/2006/main">
              <a:ext uri="{FF2B5EF4-FFF2-40B4-BE49-F238E27FC236}">
                <a16:creationId xmlns:a16="http://schemas.microsoft.com/office/drawing/2014/main" id="{140B8732-ECF1-43A5-A216-448CF74D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77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6677A"/>
                </a:solidFill>
                <a:latin typeface="Heiti TC"/>
                <a:ea typeface="Heiti TC"/>
                <a:cs typeface="Heiti TC"/>
              </a:rPr>
              <a:t>P99：预热后 128 个相同观测请求，含 HTTP 与完整模型，不含图像编码、相机或仿真渲染</a:t>
            </a:r>
          </a:p>
          <a:p xmlns:a="http://schemas.openxmlformats.org/drawingml/2006/main">
            <a:pPr algn="l">
              <a:defRPr sz="1200" b="0">
                <a:solidFill>
                  <a:srgbClr val="56677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6677A"/>
                </a:solidFill>
                <a:latin typeface="Heiti TC"/>
                <a:ea typeface="Heiti TC"/>
                <a:cs typeface="Heiti TC"/>
              </a:rPr>
              <a:t>显存：整卡生命周期峰值，GB 按 10⁹ 字节计。30 集为开发测试</a:t>
            </a:r>
          </a:p>
        </p:txBody>
      </p:sp>
    </p:spTree>
    <p:extLst>
      <p:ext uri="{BB962C8B-B14F-4D97-AF65-F5344CB8AC3E}">
        <p14:creationId xmlns:p14="http://schemas.microsoft.com/office/powerpoint/2010/main" val="14930261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2026-10-08T12:15:25.6340000Z</dcterms:created>
  <dcterms:modified xsi:type="dcterms:W3CDTF">2026-10-08T12:15:25.6340000Z</dcterms:modified>
</coreProperties>
</file>