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68ba938b624730" /><Relationship Type="http://schemas.openxmlformats.org/officeDocument/2006/relationships/extended-properties" Target="/docProps/app.xml" Id="Rf2a590ca14184f6e" /><Relationship Type="http://schemas.openxmlformats.org/officeDocument/2006/relationships/officeDocument" Target="/ppt/presentation.xml" Id="Rd75e461fd340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7cbcca9dfc4175"/>
  </p:sldMasterIdLst>
  <p:notesMasterIdLst>
    <p:notesMasterId xmlns:r="http://schemas.openxmlformats.org/officeDocument/2006/relationships" r:id="Re0928246123f455c"/>
  </p:notesMasterIdLst>
  <p:sldIdLst>
    <p:sldId xmlns:r="http://schemas.openxmlformats.org/officeDocument/2006/relationships" id="256" r:id="Ra7c3194c2dc34def"/>
    <p:sldId xmlns:r="http://schemas.openxmlformats.org/officeDocument/2006/relationships" id="257" r:id="R7dbd832f4de643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7ed44d81d84e97" /><Relationship Type="http://schemas.openxmlformats.org/officeDocument/2006/relationships/slideMaster" Target="/ppt/slideMasters/slideMaster1.xml" Id="R757cbcca9dfc4175" /><Relationship Type="http://schemas.openxmlformats.org/officeDocument/2006/relationships/notesMaster" Target="/ppt/notesMasters/notesMaster1.xml" Id="Re0928246123f455c" /><Relationship Type="http://schemas.openxmlformats.org/officeDocument/2006/relationships/presProps" Target="/ppt/presProps.xml" Id="R456212b574ca42d1" /><Relationship Type="http://schemas.openxmlformats.org/officeDocument/2006/relationships/tableStyles" Target="/ppt/tableStyles.xml" Id="Rdd2dc27ce5614b53" /><Relationship Type="http://schemas.openxmlformats.org/officeDocument/2006/relationships/slide" Target="/ppt/slides/slide1.xml" Id="Ra7c3194c2dc34def" /><Relationship Type="http://schemas.openxmlformats.org/officeDocument/2006/relationships/slide" Target="/ppt/slides/slide2.xml" Id="R7dbd832f4de6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a65f4099e4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6a808427974892" /><Relationship Type="http://schemas.openxmlformats.org/officeDocument/2006/relationships/notesMaster" Target="/ppt/notesMasters/notesMaster1.xml" Id="Rb0e45951b9c842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58ffe94cb49a4" /><Relationship Type="http://schemas.openxmlformats.org/officeDocument/2006/relationships/notesMaster" Target="/ppt/notesMasters/notesMaster1.xml" Id="Rb1f4809e90b1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范围是教师开发、数据采集及整理，不涉及量化部署。阶段2先完成罐入篮12条正式试采，9训练/3验证；阶段4继续扩展16条，12训练/4验证。阶段4 Spatial首轮逐任务一次试采，成功task0/2/3/5/6/8，即6/10，属于脚本教师结果。正式采集前登记每个候选任务3个新场景回归，至少2/3完整审核通过才放行。task0与task2各2/3，task3/5/6各3/3，task8为0/3因此排除。未进入正式训练的是task1/4/7/8/9。正式采集初始300次尝试加独立验证补采10次，总310次，228条准入，82未入库含6次关机中断，失败不替换。</a:t>
            </a:r>
          </a:p>
          <a:p xmlns:a="http://schemas.openxmlformats.org/drawingml/2006/main">
            <a:r>
              <a:t>任务0训练22验证7合计29，任务2训练30验证7合计37，任务3训练48验证9合计57，任务5训练47验证10合计57，任务6训练42验证6合计48。合计189训练39验证228。训练141270动作帧，验证29454，总170724，双相机图像341448。五任务均达到至少20训练+4验证准入门槛。训练、验证按episode隔离，保留测试种子不参与采集、统计或选模。</a:t>
            </a:r>
          </a:p>
          <a:p xmlns:a="http://schemas.openxmlformats.org/drawingml/2006/main">
            <a:r>
              <a:t>示范保存双256×256 RGB（agentview与腕部）、任务语言、8D接口状态（TCP xyz/rotvec+两关节量）、7D归一化OSC动作（位移、旋转、夹爪），T动作配T+1观测。网络实际输入图像和语言，8D数值状态未进入本轮模型条件。新增任务感知初始化物理审查，检查合法叠放、穿透、支撑、稳定性；每条示范需正常进程退出、教师成功、原物理审计、动作回放、数据结构及时序一致。</a:t>
            </a:r>
          </a:p>
          <a:p xmlns:a="http://schemas.openxmlformats.org/drawingml/2006/main">
            <a:r>
              <a:t>LeRobot转换时定位到逐episode写入缓存不断累积图像字节的问题。新转换版本仅恢复164条完整提交前缀，剔除未提交尾部，逐episode释放写入缓存，完成所有228条。完整读回核验数值、原始像素、语言、时间、终止、分割统计、动作块与padding，故意损坏拒绝检查通过，原始像素误差0，原文件哈希保持一致。正式五任务每任务1段MP4，保留原始成功及失败证据。</a:t>
            </a:r>
          </a:p>
          <a:p xmlns:a="http://schemas.openxmlformats.org/drawingml/2006/main">
            <a:r>
              <a:t>未把早期罐数据隐式混入本轮五任务正式数据。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资料来源（服务器资料的本地核对副本）：</a:t>
            </a:r>
          </a:p>
          <a:p xmlns:a="http://schemas.openxmlformats.org/drawingml/2006/main">
            <a:r>
              <a:t>/Users/yuyu/Documents/openpi/agent-work-space/4-multi-task-collection/README.md</a:t>
            </a:r>
          </a:p>
          <a:p xmlns:a="http://schemas.openxmlformats.org/drawingml/2006/main">
            <a:r>
              <a:t>/Users/yuyu/Documents/openpi/agent-work-space/5-final-train/versions/collection_20261005_r4/方案.md</a:t>
            </a:r>
          </a:p>
          <a:p xmlns:a="http://schemas.openxmlformats.org/drawingml/2006/main">
            <a:r>
              <a:t>/Users/yuyu/Documents/openpi/agent-work-space/5-final-train/reports/teacher_regression_20261005_r1.json</a:t>
            </a:r>
          </a:p>
          <a:p xmlns:a="http://schemas.openxmlformats.org/drawingml/2006/main">
            <a:r>
              <a:t>/Users/yuyu/Documents/openpi/agent-work-space/5-final-train/采集完成与转换恢复记录_20261007_r1.md</a:t>
            </a:r>
          </a:p>
          <a:p xmlns:a="http://schemas.openxmlformats.org/drawingml/2006/main">
            <a:r>
              <a:t>/Users/yuyu/Documents/openpi/agent-work-space/5-final-train/当前版本与文件索引_20261008_r2.md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阶段3先用单任务数据完成300步LoRA，检查点保存/独立重载/恢复通过，闭环0/3。正式训练只用本轮放行228条五任务数据，不隐式混入旧单任务示范。pi05_libero JAX/Flax；语言Gemma2B与动作专家300M各加入LoRA，所有非LoRA参数冻结包括视觉。discrete_state_input=False，8D状态仅保留接口，模型条件为双图像与语言。动作horizon10，动作接口7D，不重复delta转换。batch4、10000更新、AdamW、峰值LR1e-4、warmup200、梯度裁剪1、EMA关闭。任务均衡轮转采样。验证每episode固定4个时刻与固定噪声，2000步一次，按任务均衡验证loss选模，不用测试调参。</a:t>
            </a:r>
          </a:p>
          <a:p xmlns:a="http://schemas.openxmlformats.org/drawingml/2006/main">
            <a:r>
              <a:t>10000步2026-10-07 23:45:21完成，耗时7363.993秒即122.7分钟。基线validationloss0.3026168496，2000/4000/6000/8000/10000分别0.0376695402/0.0296598517/0.0251290328/0.0215403060/0.0203528642，下降约93.3%。图中数值为源数据取9位小数，标签显示3位小数。20个LoRA叶子更新，非LoRA字节保持不变，所有训练指标有限，准备/小试/训练/重载退出0。独立重载参数字节相同，同固定噪声预测最大误差0，10001步恢复检查未覆盖原权重。权重位于远端/mnt/data/vla-policy/openpi/agent-work-space/5-final-train/runs/spatial_lora_20261007_r1/checkpoint/10000/，params为Orbax/OCDBT完整基座与LoRA合并参数树，附带assets归一化统计和train_state恢复信息。</a:t>
            </a:r>
          </a:p>
          <a:p xmlns:a="http://schemas.openxmlformats.org/drawingml/2006/main">
            <a:r>
              <a:t>四组10任务×20次，总800次，20Hz仿真，预测10执行5，220步主预算。每组每task首条另作650步延长诊断不计主成功。闭环LoRA0/200、原始ECO65+ZhiXing3/200、原始ECO65+Panda132/200、原始Panda151/200，均进程异常0，逐seed对象reset哈希配对相同。已训练5任务和未训练5任务均0/100。25/200无效初态留在分母，有效初态175；LoRA有效仍0/175。固定分母本轮成功率上限87.5%，≥90%验收不可达，不能借此掩盖模型低成功率。准入教师最早528步，全超220步，task6微调延长在559步原生目标成立，不计主成功、不代表稳定放置认证。预算不匹配已确认，但尚未证实所有失败的唯一根因。44个模型闭环MP4完整解码与SHA核验。使用冻结随机reset及手动渲染域，不是官方初态benchmark。</a:t>
            </a:r>
          </a:p>
          <a:p xmlns:a="http://schemas.openxmlformats.org/drawingml/2006/main">
            <a:r>
              <a:t>结论是数据与训练工程链路完成，ECO65+ZhiXing高成功率策略适配尚未验收。本演示仅展示教师采集与微调工作，不包含量化部署。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资料来源（服务器资料的本地核对副本）：</a:t>
            </a:r>
          </a:p>
          <a:p xmlns:a="http://schemas.openxmlformats.org/drawingml/2006/main">
            <a:r>
              <a:t>/Users/yuyu/Documents/openpi/agent-work-space/3-lora-validation/README.md</a:t>
            </a:r>
          </a:p>
          <a:p xmlns:a="http://schemas.openxmlformats.org/drawingml/2006/main">
            <a:r>
              <a:t>/Users/yuyu/Documents/openpi/agent-work-space/5-final-train/versions/lora_20261007_r1/方案.md</a:t>
            </a:r>
          </a:p>
          <a:p xmlns:a="http://schemas.openxmlformats.org/drawingml/2006/main">
            <a:r>
              <a:t>/Users/yuyu/Documents/openpi/agent-work-space/5-final-train/reports/training_complete_verified_20261008_r1.json</a:t>
            </a:r>
          </a:p>
          <a:p xmlns:a="http://schemas.openxmlformats.org/drawingml/2006/main">
            <a:r>
              <a:t>/Users/yuyu/Documents/openpi/agent-work-space/5-final-train/runs/closed_loop_readback_20261008_r2/verified_results.json</a:t>
            </a:r>
          </a:p>
          <a:p xmlns:a="http://schemas.openxmlformats.org/drawingml/2006/main">
            <a:r>
              <a:t>/Users/yuyu/Documents/openpi/agent-work-space/5-final-train/闭环测试恢复与完成记录_20261008_r2.md</a:t>
            </a:r>
          </a:p>
          <a:p xmlns:a="http://schemas.openxmlformats.org/drawingml/2006/main">
            <a:r>
              <a:t>/Users/yuyu/Documents/openpi/agent-work-space/5-final-train/当前版本与文件索引_20261008_r2.md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d4a02263f41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f85cbfef074bd2" /><Relationship Type="http://schemas.openxmlformats.org/officeDocument/2006/relationships/slideLayout" Target="/ppt/slideLayouts/slideLayout1.xml" Id="Rf7c0e7ccdabd44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0e7ccdabd44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c715ec6674eb6" /><Relationship Type="http://schemas.openxmlformats.org/officeDocument/2006/relationships/notesSlide" Target="/ppt/notesSlides/notesSlide1.xml" Id="R554f3c3926d74c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e170242814f89" /><Relationship Type="http://schemas.openxmlformats.org/officeDocument/2006/relationships/chart" Target="/ppt/slides/charts/chart1.xml" Id="Refc06c96563044bf" /><Relationship Type="http://schemas.openxmlformats.org/officeDocument/2006/relationships/notesSlide" Target="/ppt/notesSlides/notesSlide2.xml" Id="Rd789203938d04e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任务均衡验证损失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87F83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00">
                    <a:solidFill>
                      <a:srgbClr val="152C40"/>
                    </a:solidFill>
                    <a:latin typeface="Heiti TC"/>
                    <a:ea typeface="Heiti TC"/>
                    <a:cs typeface="Heiti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2k</c:v>
                </c:pt>
                <c:pt idx="2">
                  <c:v>4k</c:v>
                </c:pt>
                <c:pt idx="3">
                  <c:v>6k</c:v>
                </c:pt>
                <c:pt idx="4">
                  <c:v>8k</c:v>
                </c:pt>
                <c:pt idx="5">
                  <c:v>10k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0.029659852</c:v>
                </c:pt>
                <c:pt idx="3">
                  <c:v>0.025129033</c:v>
                </c:pt>
                <c:pt idx="4">
                  <c:v>0.021540306</c:v>
                </c:pt>
                <c:pt idx="5">
                  <c:v>0.020352864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00">
                  <a:solidFill>
                    <a:srgbClr val="152C40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E09F7890-A2E3-4451-B1E1-EF8C002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教师数据采集：228 条合格示范完成验证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FE658CE7-CB7D-4E92-B113-EE05F5E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ECO65＋ZhiXing，LIBERO Spatial，多任务脚本教师与正式采集</a:t>
            </a:r>
          </a:p>
        </p:txBody>
      </p:sp>
      <p:sp>
        <p:nvSpPr>
          <p:cNvPr id="3" name="route-heading">
            <a:extLst xmlns:a="http://schemas.openxmlformats.org/drawingml/2006/main">
              <a:ext uri="{FF2B5EF4-FFF2-40B4-BE49-F238E27FC236}">
                <a16:creationId xmlns:a16="http://schemas.microsoft.com/office/drawing/2014/main" id="{6A5A1782-2D15-429F-9F57-7C9AB753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17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技术路线</a:t>
            </a:r>
          </a:p>
        </p:txBody>
      </p:sp>
      <p:sp>
        <p:nvSpPr>
          <p:cNvPr id="4" name="route-stage-1">
            <a:extLst xmlns:a="http://schemas.openxmlformats.org/drawingml/2006/main">
              <a:ext uri="{FF2B5EF4-FFF2-40B4-BE49-F238E27FC236}">
                <a16:creationId xmlns:a16="http://schemas.microsoft.com/office/drawing/2014/main" id="{0F169E29-A862-435C-B762-7E70576D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脚本教师规划</a:t>
            </a:r>
          </a:p>
        </p:txBody>
      </p:sp>
      <p:sp>
        <p:nvSpPr>
          <p:cNvPr id="5" name="route-stage-2">
            <a:extLst xmlns:a="http://schemas.openxmlformats.org/drawingml/2006/main">
              <a:ext uri="{FF2B5EF4-FFF2-40B4-BE49-F238E27FC236}">
                <a16:creationId xmlns:a16="http://schemas.microsoft.com/office/drawing/2014/main" id="{03A93BA9-BD94-47B3-B5D0-3407A46D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新场景回归准入</a:t>
            </a:r>
          </a:p>
        </p:txBody>
      </p:sp>
      <p:sp>
        <p:nvSpPr>
          <p:cNvPr id="6" name="route-stage-3">
            <a:extLst xmlns:a="http://schemas.openxmlformats.org/drawingml/2006/main">
              <a:ext uri="{FF2B5EF4-FFF2-40B4-BE49-F238E27FC236}">
                <a16:creationId xmlns:a16="http://schemas.microsoft.com/office/drawing/2014/main" id="{2CCE2A79-C419-4267-9F22-1E8B5819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正式采集与审核</a:t>
            </a:r>
          </a:p>
        </p:txBody>
      </p:sp>
      <p:sp>
        <p:nvSpPr>
          <p:cNvPr id="7" name="route-stage-4">
            <a:extLst xmlns:a="http://schemas.openxmlformats.org/drawingml/2006/main">
              <a:ext uri="{FF2B5EF4-FFF2-40B4-BE49-F238E27FC236}">
                <a16:creationId xmlns:a16="http://schemas.microsoft.com/office/drawing/2014/main" id="{0C50DE7D-F94B-478B-BDCA-949B91D9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LeRobot 转换验证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2967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sp>
        <p:nvSpPr>
          <p:cNvPr id="11" name="teacher-heading">
            <a:extLst xmlns:a="http://schemas.openxmlformats.org/drawingml/2006/main">
              <a:ext uri="{FF2B5EF4-FFF2-40B4-BE49-F238E27FC236}">
                <a16:creationId xmlns:a16="http://schemas.microsoft.com/office/drawing/2014/main" id="{56A830CF-EFD7-4280-9FE6-D1ABAB77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教师开发与准入</a:t>
            </a:r>
          </a:p>
        </p:txBody>
      </p:sp>
      <p:sp>
        <p:nvSpPr>
          <p:cNvPr id="12" name="teacher-work">
            <a:extLst xmlns:a="http://schemas.openxmlformats.org/drawingml/2006/main">
              <a:ext uri="{FF2B5EF4-FFF2-40B4-BE49-F238E27FC236}">
                <a16:creationId xmlns:a16="http://schemas.microsoft.com/office/drawing/2014/main" id="{97CFA188-62EC-469B-91A0-9E5EA47B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52768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完成罐入篮扩展，逐项开发 Spatial 教师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完善抓取点、搬运净空与阶段到位判断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每任务 3 次回归，至少 2 次合格才放行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5 个任务入选，task8 回归失败未入库</a:t>
            </a:r>
          </a:p>
        </p:txBody>
      </p:sp>
      <p:sp>
        <p:nvSpPr>
          <p:cNvPr id="13" name="collection-heading">
            <a:extLst xmlns:a="http://schemas.openxmlformats.org/drawingml/2006/main">
              <a:ext uri="{FF2B5EF4-FFF2-40B4-BE49-F238E27FC236}">
                <a16:creationId xmlns:a16="http://schemas.microsoft.com/office/drawing/2014/main" id="{19E20BF7-D574-4A9E-863D-30A6DCB9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2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采集与数据质量</a:t>
            </a:r>
          </a:p>
        </p:txBody>
      </p:sp>
      <p:sp>
        <p:nvSpPr>
          <p:cNvPr id="14" name="collection-work">
            <a:extLst xmlns:a="http://schemas.openxmlformats.org/drawingml/2006/main">
              <a:ext uri="{FF2B5EF4-FFF2-40B4-BE49-F238E27FC236}">
                <a16:creationId xmlns:a16="http://schemas.microsoft.com/office/drawing/2014/main" id="{455194B0-6038-425D-9E71-9FD8505E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53911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原生场景复位，失败与中断原样留存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双 RGB＋语言＋状态，记录 7 维动作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物理审核与动作回放，LeRobot 全量读回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原始像素误差 0，训练／验证／测试隔离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五个采集任务各保留 1 段 MP4</a:t>
            </a:r>
          </a:p>
        </p:txBody>
      </p:sp>
      <p:sp>
        <p:nvSpPr>
          <p:cNvPr id="15" name="data-heading">
            <a:extLst xmlns:a="http://schemas.openxmlformats.org/drawingml/2006/main">
              <a:ext uri="{FF2B5EF4-FFF2-40B4-BE49-F238E27FC236}">
                <a16:creationId xmlns:a16="http://schemas.microsoft.com/office/drawing/2014/main" id="{0A6A8E59-190B-49C9-8A3D-7729654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9825"/>
            <a:ext cx="544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正式数据结果</a:t>
            </a:r>
          </a:p>
        </p:txBody>
      </p:sp>
      <p:sp>
        <p:nvSpPr>
          <p:cNvPr id="16" name="attempts">
            <a:extLst xmlns:a="http://schemas.openxmlformats.org/drawingml/2006/main">
              <a:ext uri="{FF2B5EF4-FFF2-40B4-BE49-F238E27FC236}">
                <a16:creationId xmlns:a16="http://schemas.microsoft.com/office/drawing/2014/main" id="{FC3FD44B-8C81-4BA5-9599-3762D32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4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310 次尝试，228 条准入，82 次未入库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248400" y="3295650"/>
          <a:ext xmlns:a="http://schemas.openxmlformats.org/drawingml/2006/main" cx="54483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90675"/>
                <a:gridCol w="1285875"/>
                <a:gridCol w="1285875"/>
                <a:gridCol w="12858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任务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训练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验证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合计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合计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189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39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228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18" name="frame-count">
            <a:extLst xmlns:a="http://schemas.openxmlformats.org/drawingml/2006/main">
              <a:ext uri="{FF2B5EF4-FFF2-40B4-BE49-F238E27FC236}">
                <a16:creationId xmlns:a16="http://schemas.microsoft.com/office/drawing/2014/main" id="{65FF8989-06B2-4374-B697-8BDAF4BE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38875"/>
            <a:ext cx="544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20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170,724 动作帧，341,448 张双视角图像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0F9055DC-9FA8-40B1-95BA-6ABB77E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817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549501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5D1BAB02-A5DB-4CC2-BD47-281B9B6E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π0.5 LoRA 微调实现与验证结果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6193E7B0-3485-4AFE-B85D-A2A950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pi05_libero 基座，JAX/Flax，ECO65＋ZhiXing，2026-10-08</a:t>
            </a:r>
          </a:p>
        </p:txBody>
      </p:sp>
      <p:sp>
        <p:nvSpPr>
          <p:cNvPr id="3" name="route-heading">
            <a:extLst xmlns:a="http://schemas.openxmlformats.org/drawingml/2006/main">
              <a:ext uri="{FF2B5EF4-FFF2-40B4-BE49-F238E27FC236}">
                <a16:creationId xmlns:a16="http://schemas.microsoft.com/office/drawing/2014/main" id="{B40C2265-DCE5-43C0-A932-5F371BD0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17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技术路线</a:t>
            </a:r>
          </a:p>
        </p:txBody>
      </p:sp>
      <p:sp>
        <p:nvSpPr>
          <p:cNvPr id="4" name="route-stage-1">
            <a:extLst xmlns:a="http://schemas.openxmlformats.org/drawingml/2006/main">
              <a:ext uri="{FF2B5EF4-FFF2-40B4-BE49-F238E27FC236}">
                <a16:creationId xmlns:a16="http://schemas.microsoft.com/office/drawing/2014/main" id="{678DBB76-BBC8-41A3-A9AE-1694D40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基座模型＋示范数据</a:t>
            </a:r>
          </a:p>
        </p:txBody>
      </p:sp>
      <p:sp>
        <p:nvSpPr>
          <p:cNvPr id="5" name="route-stage-2">
            <a:extLst xmlns:a="http://schemas.openxmlformats.org/drawingml/2006/main">
              <a:ext uri="{FF2B5EF4-FFF2-40B4-BE49-F238E27FC236}">
                <a16:creationId xmlns:a16="http://schemas.microsoft.com/office/drawing/2014/main" id="{15AA9B8E-57C3-4E2A-A59D-CBB7FC91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 LoRA</a:t>
            </a:r>
          </a:p>
        </p:txBody>
      </p:sp>
      <p:sp>
        <p:nvSpPr>
          <p:cNvPr id="6" name="route-stage-3">
            <a:extLst xmlns:a="http://schemas.openxmlformats.org/drawingml/2006/main">
              <a:ext uri="{FF2B5EF4-FFF2-40B4-BE49-F238E27FC236}">
                <a16:creationId xmlns:a16="http://schemas.microsoft.com/office/drawing/2014/main" id="{5F2ED4A6-1740-4457-8611-723DBCDD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固定验证与选模</a:t>
            </a:r>
          </a:p>
        </p:txBody>
      </p:sp>
      <p:sp>
        <p:nvSpPr>
          <p:cNvPr id="7" name="route-stage-4">
            <a:extLst xmlns:a="http://schemas.openxmlformats.org/drawingml/2006/main">
              <a:ext uri="{FF2B5EF4-FFF2-40B4-BE49-F238E27FC236}">
                <a16:creationId xmlns:a16="http://schemas.microsoft.com/office/drawing/2014/main" id="{D5DC1FE1-3AF8-4ABC-BB75-B491551D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独立重载与闭环验证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2967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sp>
        <p:nvSpPr>
          <p:cNvPr id="11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A6BD444C-294E-49B2-B8A5-8097963E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微调实现</a:t>
            </a:r>
          </a:p>
        </p:txBody>
      </p:sp>
      <p:sp>
        <p:nvSpPr>
          <p:cNvPr id="12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EB0CA4FA-C4F9-4EEF-B5CB-B242B635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52768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双 RGB＋语言输入，预测 10 步动作块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 LoRA，冻结其他参数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任务均衡，Batch 4，10,000 步，122.7 分钟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每 2,000 步验证，选中 checkpoint 10000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独立重载：参数一致，同噪声预测误差 0</a:t>
            </a:r>
          </a:p>
        </p:txBody>
      </p:sp>
      <p:sp>
        <p:nvSpPr>
          <p:cNvPr id="13" name="loss-heading">
            <a:extLst xmlns:a="http://schemas.openxmlformats.org/drawingml/2006/main">
              <a:ext uri="{FF2B5EF4-FFF2-40B4-BE49-F238E27FC236}">
                <a16:creationId xmlns:a16="http://schemas.microsoft.com/office/drawing/2014/main" id="{83012DDD-D962-4947-9615-724EE311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527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任务均衡验证损失下降 93.3%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57200" y="4714875"/>
          <a:ext xmlns:a="http://schemas.openxmlformats.org/drawingml/2006/main" cx="5314950" cy="1781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c06c96563044bf"/>
          </a:graphicData>
        </a:graphic>
      </p:graphicFrame>
      <p:sp>
        <p:nvSpPr>
          <p:cNvPr id="15" name="x-axis-caption">
            <a:extLst xmlns:a="http://schemas.openxmlformats.org/drawingml/2006/main">
              <a:ext uri="{FF2B5EF4-FFF2-40B4-BE49-F238E27FC236}">
                <a16:creationId xmlns:a16="http://schemas.microsoft.com/office/drawing/2014/main" id="{46493806-D821-40A1-954E-58A6AA35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436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7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训练步数</a:t>
            </a:r>
          </a:p>
        </p:txBody>
      </p:sp>
      <p:sp>
        <p:nvSpPr>
          <p:cNvPr id="16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0BCDCA4F-7A3F-4F4F-A617-5050E24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闭环验证：微调模型 0/200</a:t>
            </a:r>
          </a:p>
        </p:txBody>
      </p:sp>
      <p:sp>
        <p:nvSpPr>
          <p:cNvPr id="17" name="rollout-scope">
            <a:extLst xmlns:a="http://schemas.openxmlformats.org/drawingml/2006/main">
              <a:ext uri="{FF2B5EF4-FFF2-40B4-BE49-F238E27FC236}">
                <a16:creationId xmlns:a16="http://schemas.microsoft.com/office/drawing/2014/main" id="{4365C28C-D280-41FA-B73E-78824411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10 个任务各 20 次，220 步主预算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096000" y="3295650"/>
          <a:ext xmlns:a="http://schemas.openxmlformats.org/drawingml/2006/main" cx="5600700" cy="2143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0425"/>
                <a:gridCol w="1104900"/>
                <a:gridCol w="1095375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策略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成功率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微调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0/200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0.0%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132/200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66.0%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151/200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75.5%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urrent-status">
            <a:extLst xmlns:a="http://schemas.openxmlformats.org/drawingml/2006/main">
              <a:ext uri="{FF2B5EF4-FFF2-40B4-BE49-F238E27FC236}">
                <a16:creationId xmlns:a16="http://schemas.microsoft.com/office/drawing/2014/main" id="{274CDD2A-3D47-4F26-8EF6-87336375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24525"/>
            <a:ext cx="5600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训练与权重重载已完成，策略效果未达标。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有效初态 0/175，教师最快需 528 步。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损失下降尚未转化为闭环成功，适配未验收。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AE0C5BBC-A9EE-4A7F-95CC-4E3A63DB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817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973963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2026-10-08T12:19:12.1770000Z</dcterms:created>
  <dcterms:modified xsi:type="dcterms:W3CDTF">2026-10-08T12:19:12.1770000Z</dcterms:modified>
</coreProperties>
</file>