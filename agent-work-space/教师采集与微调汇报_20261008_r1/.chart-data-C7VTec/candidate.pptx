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7d869090b4000" /><Relationship Type="http://schemas.openxmlformats.org/officeDocument/2006/relationships/extended-properties" Target="/docProps/app.xml" Id="R117e91bf82dd4be2" /><Relationship Type="http://schemas.openxmlformats.org/officeDocument/2006/relationships/officeDocument" Target="/ppt/presentation.xml" Id="R64520a7cad7040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4dc3e8c46045b4"/>
  </p:sldMasterIdLst>
  <p:notesMasterIdLst>
    <p:notesMasterId xmlns:r="http://schemas.openxmlformats.org/officeDocument/2006/relationships" r:id="Rb724530a2b764755"/>
  </p:notesMasterIdLst>
  <p:sldIdLst>
    <p:sldId xmlns:r="http://schemas.openxmlformats.org/officeDocument/2006/relationships" id="256" r:id="Reb0160e557554440"/>
    <p:sldId xmlns:r="http://schemas.openxmlformats.org/officeDocument/2006/relationships" id="257" r:id="R4026bb441bab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637010cdb4098" /><Relationship Type="http://schemas.openxmlformats.org/officeDocument/2006/relationships/slideMaster" Target="/ppt/slideMasters/slideMaster1.xml" Id="R004dc3e8c46045b4" /><Relationship Type="http://schemas.openxmlformats.org/officeDocument/2006/relationships/notesMaster" Target="/ppt/notesMasters/notesMaster1.xml" Id="Rb724530a2b764755" /><Relationship Type="http://schemas.openxmlformats.org/officeDocument/2006/relationships/presProps" Target="/ppt/presProps.xml" Id="Rf62a756047a94c4f" /><Relationship Type="http://schemas.openxmlformats.org/officeDocument/2006/relationships/tableStyles" Target="/ppt/tableStyles.xml" Id="R68e2be6e04b849fb" /><Relationship Type="http://schemas.openxmlformats.org/officeDocument/2006/relationships/slide" Target="/ppt/slides/slide1.xml" Id="Reb0160e557554440" /><Relationship Type="http://schemas.openxmlformats.org/officeDocument/2006/relationships/slide" Target="/ppt/slides/slide2.xml" Id="R4026bb441bab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4fa464c2f41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2bb16d341744db" /><Relationship Type="http://schemas.openxmlformats.org/officeDocument/2006/relationships/notesMaster" Target="/ppt/notesMasters/notesMaster1.xml" Id="R00d27e5652dd49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6c6e1b47c4a77" /><Relationship Type="http://schemas.openxmlformats.org/officeDocument/2006/relationships/notesMaster" Target="/ppt/notesMasters/notesMaster1.xml" Id="Rd56c62114e3f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范围是教师开发、数据采集及整理，不涉及量化部署。阶段2先完成罐入篮12条正式试采，9训练/3验证；阶段4继续扩展16条，12训练/4验证。阶段4 Spatial首轮逐任务一次试采，成功task0/2/3/5/6/8，即6/10，属于脚本教师结果。正式采集前登记每个候选任务3个新场景回归，至少2/3完整审核通过才放行。task0与task2各2/3，task3/5/6各3/3，task8为0/3因此排除。未进入正式训练的是task1/4/7/8/9。正式采集初始300次尝试加独立验证补采10次，总310次，228条准入，82未入库含6次关机中断，失败不替换。</a:t>
            </a:r>
          </a:p>
          <a:p xmlns:a="http://schemas.openxmlformats.org/drawingml/2006/main">
            <a:r>
              <a:t>任务0训练22验证7合计29，任务2训练30验证7合计37，任务3训练48验证9合计57，任务5训练47验证10合计57，任务6训练42验证6合计48。合计189训练39验证228。训练141270动作帧，验证29454，总170724，双相机图像341448。五任务均达到至少20训练+4验证准入门槛。训练、验证按episode隔离，保留测试种子不参与采集、统计或选模。</a:t>
            </a:r>
          </a:p>
          <a:p xmlns:a="http://schemas.openxmlformats.org/drawingml/2006/main">
            <a:r>
              <a:t>示范保存双256×256 RGB（agentview与腕部）、任务语言、8D接口状态（TCP xyz/rotvec+两关节量）、7D归一化OSC动作（位移、旋转、夹爪），T动作配T+1观测。网络实际输入图像和语言，8D数值状态未进入本轮模型条件。新增任务感知初始化物理审查，检查合法叠放、穿透、支撑、稳定性；每条示范需正常进程退出、教师成功、原物理审计、动作回放、数据结构及时序一致。</a:t>
            </a:r>
          </a:p>
          <a:p xmlns:a="http://schemas.openxmlformats.org/drawingml/2006/main">
            <a:r>
              <a:t>LeRobot转换时定位到逐episode写入缓存不断累积图像字节的问题。新转换版本仅恢复164条完整提交前缀，剔除未提交尾部，逐episode释放写入缓存，完成所有228条。完整读回核验数值、原始像素、语言、时间、终止、分割统计、动作块与padding，故意损坏拒绝检查通过，原始像素误差0，原文件哈希保持一致。正式五任务每任务1段MP4，保留原始成功及失败证据。</a:t>
            </a:r>
          </a:p>
          <a:p xmlns:a="http://schemas.openxmlformats.org/drawingml/2006/main">
            <a:r>
              <a:t>图片来自已准入正式teacher视频预览task00.jpg，seed620000，任务是将盘与ramekin之间的黑碗放到盘上。图片分别为准备、提起、释放后双视角，同一教师episode，不是模型闭环表现。未把早期罐数据隐式混入本轮五任务正式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/Users/yuyu/Documents/openpi/agent-work-space/4-multi-task-collection/README.md</a:t>
            </a:r>
          </a:p>
          <a:p xmlns:a="http://schemas.openxmlformats.org/drawingml/2006/main">
            <a:r>
              <a:t>/Users/yuyu/Documents/openpi/agent-work-space/5-final-train/versions/collection_20261005_r4/方案.md</a:t>
            </a:r>
          </a:p>
          <a:p xmlns:a="http://schemas.openxmlformats.org/drawingml/2006/main">
            <a:r>
              <a:t>/Users/yuyu/Documents/openpi/agent-work-space/5-final-train/reports/teacher_regression_20261005_r1.json</a:t>
            </a:r>
          </a:p>
          <a:p xmlns:a="http://schemas.openxmlformats.org/drawingml/2006/main">
            <a:r>
              <a:t>/Users/yuyu/Documents/openpi/agent-work-space/5-final-train/采集完成与转换恢复记录_20261007_r1.md</a:t>
            </a:r>
          </a:p>
          <a:p xmlns:a="http://schemas.openxmlformats.org/drawingml/2006/main">
            <a:r>
              <a:t>/Users/yuyu/Documents/openpi/agent-work-space/5-final-train/videos/formal_20261006_r1/task00.jpg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阶段3先用单任务数据完成300步LoRA，检查点保存/独立重载/恢复通过，闭环0/3。正式训练只用本轮放行228条五任务数据，不隐式混入旧单任务示范。pi05_libero JAX/Flax；语言Gemma2B与动作专家300M各加入LoRA，所有非LoRA参数冻结包括视觉。discrete_state_input=False，8D状态仅保留接口，模型条件为双图像与语言。动作horizon10，动作接口7D，不重复delta转换。batch4、10000更新、AdamW、峰值LR1e-4、warmup200、梯度裁剪1、EMA关闭。任务均衡轮转采样。验证每episode固定4个时刻与固定噪声，2000步一次，按任务均衡验证loss选模，不用测试调参。</a:t>
            </a:r>
          </a:p>
          <a:p xmlns:a="http://schemas.openxmlformats.org/drawingml/2006/main">
            <a:r>
              <a:t>10000步2026-10-07 23:45:21完成，耗时7363.993秒即122.7分钟。基线validationloss0.3026168496，2000/4000/6000/8000/10000分别0.0376695402/0.0296598517/0.0251290328/0.0215403060/0.0203528642，下降约93.3%。图中数值为源数据取9位小数，标签显示3位小数。20个LoRA叶子更新，非LoRA字节保持不变，所有训练指标有限，准备/小试/训练/重载退出0。独立重载参数字节相同，同固定噪声预测最大误差0，10001步恢复检查未覆盖原权重。权重位于远端/mnt/data/vla-policy/openpi/agent-work-space/5-final-train/runs/spatial_lora_20261007_r1/checkpoint/10000/，params为Orbax/OCDBT完整基座与LoRA合并参数树，附带assets归一化统计和train_state恢复信息。</a:t>
            </a:r>
          </a:p>
          <a:p xmlns:a="http://schemas.openxmlformats.org/drawingml/2006/main">
            <a:r>
              <a:t>四组10任务×20次，总800次，20Hz仿真，预测10执行5，220步主预算。每组每task首条另作650步延长诊断不计主成功。闭环LoRA0/200、原始ECO65+ZhiXing3/200、原始ECO65+Panda132/200、原始Panda151/200，均进程异常0，逐seed对象reset哈希配对相同。已训练5任务和未训练5任务均0/100。25/200无效初态留在分母，有效初态175；LoRA有效仍0/175。固定分母本轮成功率上限87.5%，≥90%验收不可达，不能借此掩盖模型低成功率。准入教师最早528步，全超220步，task6微调延长在559步原生目标成立，不计主成功、不代表稳定放置认证。预算不匹配已确认，但尚未证实所有失败的唯一根因。44个模型闭环MP4完整解码与SHA核验。使用冻结随机reset及手动渲染域，不是官方初态benchmark。</a:t>
            </a:r>
          </a:p>
          <a:p xmlns:a="http://schemas.openxmlformats.org/drawingml/2006/main">
            <a:r>
              <a:t>结论是数据与训练工程链路完成，ECO65+ZhiXing高成功率策略适配尚未验收。本演示仅展示教师采集与微调工作，不包含量化部署。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/Users/yuyu/Documents/openpi/agent-work-space/3-lora-validation/README.md</a:t>
            </a:r>
          </a:p>
          <a:p xmlns:a="http://schemas.openxmlformats.org/drawingml/2006/main">
            <a:r>
              <a:t>/Users/yuyu/Documents/openpi/agent-work-space/5-final-train/versions/lora_20261007_r1/方案.md</a:t>
            </a:r>
          </a:p>
          <a:p xmlns:a="http://schemas.openxmlformats.org/drawingml/2006/main">
            <a:r>
              <a:t>/Users/yuyu/Documents/openpi/agent-work-space/5-final-train/reports/training_complete_verified_20261008_r1.json</a:t>
            </a:r>
          </a:p>
          <a:p xmlns:a="http://schemas.openxmlformats.org/drawingml/2006/main">
            <a:r>
              <a:t>/Users/yuyu/Documents/openpi/agent-work-space/5-final-train/runs/closed_loop_readback_20261008_r2/verified_results.json</a:t>
            </a:r>
          </a:p>
          <a:p xmlns:a="http://schemas.openxmlformats.org/drawingml/2006/main">
            <a:r>
              <a:t>/Users/yuyu/Documents/openpi/agent-work-space/5-final-train/闭环测试恢复与完成记录_20261008_r2.md</a:t>
            </a:r>
          </a:p>
          <a:p xmlns:a="http://schemas.openxmlformats.org/drawingml/2006/main">
            <a:r>
              <a:t>/Users/yuyu/Documents/openpi/agent-work-space/5-final-train/当前版本与文件索引_20261008_r2.md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afb03c8ff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a14378aedc4428" /><Relationship Type="http://schemas.openxmlformats.org/officeDocument/2006/relationships/slideLayout" Target="/ppt/slideLayouts/slideLayout1.xml" Id="R1972aa334e1f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2aa334e1f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b99f51bd242c7" /><Relationship Type="http://schemas.openxmlformats.org/officeDocument/2006/relationships/notesSlide" Target="/ppt/notesSlides/notesSlide1.xml" Id="R4c9e4995b0ce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d529fc1949f5" /><Relationship Type="http://schemas.openxmlformats.org/officeDocument/2006/relationships/chart" Target="/ppt/slides/charts/chart1.xml" Id="Ree79a7eca12e400d" /><Relationship Type="http://schemas.openxmlformats.org/officeDocument/2006/relationships/notesSlide" Target="/ppt/notesSlides/notesSlide2.xml" Id="R787f3b8a1fe247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任务均衡验证损失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3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00">
                    <a:solidFill>
                      <a:srgbClr val="152C40"/>
                    </a:solidFill>
                    <a:latin typeface="Heiti TC"/>
                    <a:ea typeface="Heiti TC"/>
                    <a:cs typeface="Heiti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2k</c:v>
                </c:pt>
                <c:pt idx="2">
                  <c:v>4k</c:v>
                </c:pt>
                <c:pt idx="3">
                  <c:v>6k</c:v>
                </c:pt>
                <c:pt idx="4">
                  <c:v>8k</c:v>
                </c:pt>
                <c:pt idx="5">
                  <c:v>10k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0.029659852</c:v>
                </c:pt>
                <c:pt idx="3">
                  <c:v>0.025129033</c:v>
                </c:pt>
                <c:pt idx="4">
                  <c:v>0.021540306</c:v>
                </c:pt>
                <c:pt idx="5">
                  <c:v>0.020352864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00">
                  <a:solidFill>
                    <a:srgbClr val="152C40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6A7E6B79-4B41-4D3D-8DCE-B0DADBF1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教师数据采集：228 条合格示范完成验证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8D320541-C27E-47D1-AD01-82C47B4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ECO65＋ZhiXing，LIBERO Spatial，多任务脚本教师与正式采集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882533E5-0100-48C8-9589-E6EE45D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1770F0E0-736C-419B-8EBE-6AAD523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脚本教师规划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795BF639-562E-4665-8FCF-6AA287F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新场景回归准入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61EBAA28-9F14-41A7-AF87-B0E6B1D5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正式采集与审核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84D0BA70-C8FC-4B69-A1EB-3E994EC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LeRobot 转换验证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sp>
        <p:nvSpPr>
          <p:cNvPr id="11" name="teacher-heading">
            <a:extLst xmlns:a="http://schemas.openxmlformats.org/drawingml/2006/main">
              <a:ext uri="{FF2B5EF4-FFF2-40B4-BE49-F238E27FC236}">
                <a16:creationId xmlns:a16="http://schemas.microsoft.com/office/drawing/2014/main" id="{4403D0B3-024F-44F4-8545-7085373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教师开发与准入</a:t>
            </a:r>
          </a:p>
        </p:txBody>
      </p:sp>
      <p:sp>
        <p:nvSpPr>
          <p:cNvPr id="12" name="teacher-work">
            <a:extLst xmlns:a="http://schemas.openxmlformats.org/drawingml/2006/main">
              <a:ext uri="{FF2B5EF4-FFF2-40B4-BE49-F238E27FC236}">
                <a16:creationId xmlns:a16="http://schemas.microsoft.com/office/drawing/2014/main" id="{4DE2C8DB-DC93-4E23-B4A7-1249FE16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完成罐入篮扩展，逐项开发 Spatial 教师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完善抓取点、搬运净空与阶段到位判断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每任务 3 次回归，至少 2 次合格才放行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5 个任务入选，task8 回归失败未入库</a:t>
            </a:r>
          </a:p>
        </p:txBody>
      </p:sp>
      <p:sp>
        <p:nvSpPr>
          <p:cNvPr id="13" name="collection-heading">
            <a:extLst xmlns:a="http://schemas.openxmlformats.org/drawingml/2006/main">
              <a:ext uri="{FF2B5EF4-FFF2-40B4-BE49-F238E27FC236}">
                <a16:creationId xmlns:a16="http://schemas.microsoft.com/office/drawing/2014/main" id="{4C0B4B9C-2235-4E9E-AB4D-1E2E99EE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采集与数据质量</a:t>
            </a:r>
          </a:p>
        </p:txBody>
      </p:sp>
      <p:sp>
        <p:nvSpPr>
          <p:cNvPr id="14" name="collection-work">
            <a:extLst xmlns:a="http://schemas.openxmlformats.org/drawingml/2006/main">
              <a:ext uri="{FF2B5EF4-FFF2-40B4-BE49-F238E27FC236}">
                <a16:creationId xmlns:a16="http://schemas.microsoft.com/office/drawing/2014/main" id="{57CAC3AB-3729-4262-9F4F-A721CE6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53911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原生场景复位，失败与中断原样留存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RGB＋语言＋状态，记录 7 维动作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物理审核与动作回放，LeRobot 全量读回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原始像素误差 0，训练／验证／测试隔离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五个采集任务各保留 1 段 MP4</a:t>
            </a:r>
          </a:p>
        </p:txBody>
      </p:sp>
      <p:sp>
        <p:nvSpPr>
          <p:cNvPr id="15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CB0BC8D2-BABC-4F13-B7CD-F1442DBB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正式数据结果</a:t>
            </a:r>
          </a:p>
        </p:txBody>
      </p:sp>
      <p:sp>
        <p:nvSpPr>
          <p:cNvPr id="16" name="attempts">
            <a:extLst xmlns:a="http://schemas.openxmlformats.org/drawingml/2006/main">
              <a:ext uri="{FF2B5EF4-FFF2-40B4-BE49-F238E27FC236}">
                <a16:creationId xmlns:a16="http://schemas.microsoft.com/office/drawing/2014/main" id="{EEFF7B19-F022-408F-9A9F-221216E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4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310 次尝试，228 条准入，82 次未入库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248400" y="3295650"/>
          <a:ext xmlns:a="http://schemas.openxmlformats.org/drawingml/2006/main" cx="54483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90675"/>
                <a:gridCol w="1285875"/>
                <a:gridCol w="1285875"/>
                <a:gridCol w="12858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训练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验证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189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228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18" name="frame-count">
            <a:extLst xmlns:a="http://schemas.openxmlformats.org/drawingml/2006/main">
              <a:ext uri="{FF2B5EF4-FFF2-40B4-BE49-F238E27FC236}">
                <a16:creationId xmlns:a16="http://schemas.microsoft.com/office/drawing/2014/main" id="{74767DD8-C45D-4393-B17F-B0D9F1D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3887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20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170,724 动作帧，341,448 张双视角图像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FAE05B59-11E7-4A89-B7FB-6C7993B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874612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B972A7BC-B194-4822-9018-19BC2E00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LoRA 微调实现与验证结果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2707AF80-B0C7-41A9-9A59-F09EB379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pi05_libero 基座，JAX/Flax，ECO65＋ZhiXing，2026-10-08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A89CD925-F92D-4EB4-A232-DC33E1C8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8872AB8C-943F-47D2-B17A-EE2B79E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基座模型＋示范数据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1D2D7AB6-C623-4F89-B343-7576BD03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76171A3C-8BA4-4725-827D-FE736DE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固定验证与选模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E9B7A10D-80C0-4117-9CBC-7165DD0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独立重载与闭环验证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headEnd type="triangle" w="sm" len="sm"/>
          </a:ln>
        </p:spPr>
      </p:cxnSp>
      <p:sp>
        <p:nvSpPr>
          <p:cNvPr id="11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49FC5CBE-DAC0-4883-9E3D-F1F3BFC5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微调实现</a:t>
            </a:r>
          </a:p>
        </p:txBody>
      </p:sp>
      <p:sp>
        <p:nvSpPr>
          <p:cNvPr id="12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BD97F394-7250-4324-99F7-2EF7AEFE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RGB＋语言输入，预测 10 步动作块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LoRA，冻结其他参数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任务均衡，Batch 4，10,000 步，122.7 分钟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 2,000 步验证，选中 checkpoint 10000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独立重载：参数一致，同噪声预测误差 0</a:t>
            </a:r>
          </a:p>
        </p:txBody>
      </p:sp>
      <p:sp>
        <p:nvSpPr>
          <p:cNvPr id="13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C6404645-91EE-4C27-A956-3E2E69C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86275"/>
            <a:ext cx="527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任务均衡验证损失下降 93.3%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4886325"/>
          <a:ext xmlns:a="http://schemas.openxmlformats.org/drawingml/2006/main" cx="5314950" cy="1514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79a7eca12e400d"/>
          </a:graphicData>
        </a:graphic>
      </p:graphicFrame>
      <p:sp>
        <p:nvSpPr>
          <p:cNvPr id="15" name="x-axis-caption">
            <a:extLst xmlns:a="http://schemas.openxmlformats.org/drawingml/2006/main">
              <a:ext uri="{FF2B5EF4-FFF2-40B4-BE49-F238E27FC236}">
                <a16:creationId xmlns:a16="http://schemas.microsoft.com/office/drawing/2014/main" id="{79E44745-C059-4388-A0AE-38F9C8C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4293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7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训练步数</a:t>
            </a:r>
          </a:p>
        </p:txBody>
      </p:sp>
      <p:sp>
        <p:nvSpPr>
          <p:cNvPr id="16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4F98BD17-AE4B-46CE-A156-C0E2433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闭环验证：微调模型 0/200</a:t>
            </a:r>
          </a:p>
        </p:txBody>
      </p:sp>
      <p:sp>
        <p:nvSpPr>
          <p:cNvPr id="17" name="rollout-scope">
            <a:extLst xmlns:a="http://schemas.openxmlformats.org/drawingml/2006/main">
              <a:ext uri="{FF2B5EF4-FFF2-40B4-BE49-F238E27FC236}">
                <a16:creationId xmlns:a16="http://schemas.microsoft.com/office/drawing/2014/main" id="{8C46A928-3AEF-4038-8D55-FAE74010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10 个任务各 20 次，220 步主预算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096000" y="3295650"/>
          <a:ext xmlns:a="http://schemas.openxmlformats.org/drawingml/2006/main" cx="56007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0425"/>
                <a:gridCol w="1104900"/>
                <a:gridCol w="1095375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微调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0/200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0.0%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132/200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66.0%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151/200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75.5%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D5D32150-2814-4E14-A14F-67A27B7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24525"/>
            <a:ext cx="560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训练与权重重载已完成，策略效果未达标。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有效初态 0/175，教师最快需 528 步。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损失下降尚未转化为闭环成功，适配未验收。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EFE988C4-7585-4E3B-8BED-800C7465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86338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2026-10-08T12:15:56.8070000Z</dcterms:created>
  <dcterms:modified xsi:type="dcterms:W3CDTF">2026-10-08T12:15:56.8070000Z</dcterms:modified>
</coreProperties>
</file>