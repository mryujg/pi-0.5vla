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babd963fb24798" /><Relationship Type="http://schemas.openxmlformats.org/officeDocument/2006/relationships/extended-properties" Target="/docProps/app.xml" Id="R34c9c78203b344af" /><Relationship Type="http://schemas.openxmlformats.org/officeDocument/2006/relationships/officeDocument" Target="/ppt/presentation.xml" Id="R33be5557d13a40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4eb4ecdd944ada"/>
  </p:sldMasterIdLst>
  <p:notesMasterIdLst>
    <p:notesMasterId xmlns:r="http://schemas.openxmlformats.org/officeDocument/2006/relationships" r:id="Ra8c4af1746c24752"/>
  </p:notesMasterIdLst>
  <p:sldIdLst>
    <p:sldId xmlns:r="http://schemas.openxmlformats.org/officeDocument/2006/relationships" id="256" r:id="R7de4bb86c1684f62"/>
    <p:sldId xmlns:r="http://schemas.openxmlformats.org/officeDocument/2006/relationships" id="257" r:id="Rf138e44087794d4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963227d1724e8f" /><Relationship Type="http://schemas.openxmlformats.org/officeDocument/2006/relationships/slideMaster" Target="/ppt/slideMasters/slideMaster1.xml" Id="R5c4eb4ecdd944ada" /><Relationship Type="http://schemas.openxmlformats.org/officeDocument/2006/relationships/notesMaster" Target="/ppt/notesMasters/notesMaster1.xml" Id="Ra8c4af1746c24752" /><Relationship Type="http://schemas.openxmlformats.org/officeDocument/2006/relationships/presProps" Target="/ppt/presProps.xml" Id="R23d231d482494add" /><Relationship Type="http://schemas.openxmlformats.org/officeDocument/2006/relationships/tableStyles" Target="/ppt/tableStyles.xml" Id="Rd1ff80f091f64271" /><Relationship Type="http://schemas.openxmlformats.org/officeDocument/2006/relationships/slide" Target="/ppt/slides/slide1.xml" Id="R7de4bb86c1684f62" /><Relationship Type="http://schemas.openxmlformats.org/officeDocument/2006/relationships/slide" Target="/ppt/slides/slide2.xml" Id="Rf138e44087794d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23619f186b47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8c69cb264b4726" /><Relationship Type="http://schemas.openxmlformats.org/officeDocument/2006/relationships/notesMaster" Target="/ppt/notesMasters/notesMaster1.xml" Id="Rc7298ac11b8041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85f9cc6e294eb2" /><Relationship Type="http://schemas.openxmlformats.org/officeDocument/2006/relationships/notesMaster" Target="/ppt/notesMasters/notesMaster1.xml" Id="R0a5c686a9d7144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范围是教师开发、数据采集及整理，不涉及量化部署。阶段2先完成罐入篮12条正式试采，9训练/3验证；阶段4继续扩展16条，12训练/4验证。阶段4 Spatial首轮逐任务一次试采，成功task0/2/3/5/6/8，即6/10，属于脚本教师结果。正式采集前登记每个候选任务3个新场景回归，至少2/3完整审核通过才放行。task0与task2各2/3，task3/5/6各3/3，task8为0/3因此排除。未进入正式训练的是task1/4/7/8/9。正式采集初始300次尝试加独立验证补采10次，总310次，228条准入，82未入库含6次关机中断，失败不替换。</a:t>
            </a:r>
          </a:p>
          <a:p xmlns:a="http://schemas.openxmlformats.org/drawingml/2006/main">
            <a:r>
              <a:t>任务0训练22验证7合计29，任务2训练30验证7合计37，任务3训练48验证9合计57，任务5训练47验证10合计57，任务6训练42验证6合计48。合计189训练39验证228。训练141270动作帧，验证29454，总170724，双相机图像341448。五任务均达到至少20训练+4验证准入门槛。训练、验证按episode隔离，保留测试种子不参与采集、统计或选模。</a:t>
            </a:r>
          </a:p>
          <a:p xmlns:a="http://schemas.openxmlformats.org/drawingml/2006/main">
            <a:r>
              <a:t>示范保存双256×256 RGB（agentview与腕部）、任务语言、8D接口状态（TCP xyz/rotvec+两关节量）、7D归一化OSC动作（位移、旋转、夹爪），T动作配T+1观测。网络实际输入图像和语言，8D数值状态未进入本轮模型条件。新增任务感知初始化物理审查，检查合法叠放、穿透、支撑、稳定性；每条示范需正常进程退出、教师成功、原物理审计、动作回放、数据结构及时序一致。</a:t>
            </a:r>
          </a:p>
          <a:p xmlns:a="http://schemas.openxmlformats.org/drawingml/2006/main">
            <a:r>
              <a:t>LeRobot转换时定位到逐episode写入缓存不断累积图像字节的问题。新转换版本仅恢复164条完整提交前缀，剔除未提交尾部，逐episode释放写入缓存，完成所有228条。完整读回核验数值、原始像素、语言、时间、终止、分割统计、动作块与padding，故意损坏拒绝检查通过，原始像素误差0，原文件哈希保持一致。正式五任务每任务1段MP4，保留原始成功及失败证据。</a:t>
            </a:r>
          </a:p>
          <a:p xmlns:a="http://schemas.openxmlformats.org/drawingml/2006/main">
            <a:r>
              <a:t>未把早期罐数据隐式混入本轮五任务正式数据。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资料来源（服务器资料的本地核对副本）：</a:t>
            </a:r>
          </a:p>
          <a:p xmlns:a="http://schemas.openxmlformats.org/drawingml/2006/main">
            <a:r>
              <a:t>/Users/yuyu/Documents/openpi/agent-work-space/4-multi-task-collection/README.md</a:t>
            </a:r>
          </a:p>
          <a:p xmlns:a="http://schemas.openxmlformats.org/drawingml/2006/main">
            <a:r>
              <a:t>/Users/yuyu/Documents/openpi/agent-work-space/5-final-train/versions/collection_20261005_r4/方案.md</a:t>
            </a:r>
          </a:p>
          <a:p xmlns:a="http://schemas.openxmlformats.org/drawingml/2006/main">
            <a:r>
              <a:t>/Users/yuyu/Documents/openpi/agent-work-space/5-final-train/reports/teacher_regression_20261005_r1.json</a:t>
            </a:r>
          </a:p>
          <a:p xmlns:a="http://schemas.openxmlformats.org/drawingml/2006/main">
            <a:r>
              <a:t>/Users/yuyu/Documents/openpi/agent-work-space/5-final-train/采集完成与转换恢复记录_20261007_r1.md</a:t>
            </a:r>
          </a:p>
          <a:p xmlns:a="http://schemas.openxmlformats.org/drawingml/2006/main">
            <a:r>
              <a:t>/Users/yuyu/Documents/openpi/agent-work-space/5-final-train/当前版本与文件索引_20261008_r2.md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阶段3先用单任务数据完成300步LoRA，检查点保存/独立重载/恢复通过，闭环0/3。正式训练只用本轮放行228条五任务数据，不隐式混入旧单任务示范。pi05_libero JAX/Flax；语言Gemma2B与动作专家300M各加入LoRA，所有非LoRA参数冻结包括视觉。discrete_state_input=False，8D状态仅保留接口，模型条件为双图像与语言。动作horizon10，动作接口7D，不重复delta转换。batch4、10000更新、AdamW、峰值LR1e-4、warmup200、梯度裁剪1、EMA关闭。任务均衡轮转采样。验证每episode固定4个时刻与固定噪声，2000步一次，按任务均衡验证loss选模，不用测试调参。</a:t>
            </a:r>
          </a:p>
          <a:p xmlns:a="http://schemas.openxmlformats.org/drawingml/2006/main">
            <a:r>
              <a:t>10000步2026-10-07 23:45:21完成，耗时7363.993秒即122.7分钟。基线validationloss0.3026168496，2000/4000/6000/8000/10000分别0.0376695402/0.0296598517/0.0251290328/0.0215403060/0.0203528642，下降约93.3%。图中数值为源数据取9位小数，标签显示3位小数。20个LoRA叶子更新，非LoRA字节保持不变，所有训练指标有限，准备/小试/训练/重载退出0。独立重载参数字节相同，同固定噪声预测最大误差0，10001步恢复检查未覆盖原权重。权重位于远端/mnt/data/vla-policy/openpi/agent-work-space/5-final-train/runs/spatial_lora_20261007_r1/checkpoint/10000/，params为Orbax/OCDBT完整基座与LoRA合并参数树，附带assets归一化统计和train_state恢复信息。</a:t>
            </a:r>
          </a:p>
          <a:p xmlns:a="http://schemas.openxmlformats.org/drawingml/2006/main">
            <a:r>
              <a:t>四组10任务×20次，总800次，20Hz仿真，预测10执行5，220步主预算。每组每task首条另作650步延长诊断不计主成功。闭环LoRA0/200、原始ECO65+ZhiXing3/200、原始ECO65+Panda132/200、原始Panda151/200，均进程异常0，逐seed对象reset哈希配对相同。已训练5任务和未训练5任务均0/100。25/200无效初态留在分母，有效初态175；LoRA有效仍0/175。固定分母本轮成功率上限87.5%，≥90%验收不可达，不能借此掩盖模型低成功率。准入教师最早528步，全超220步，task6微调延长在559步原生目标成立，不计主成功、不代表稳定放置认证。预算不匹配已确认，但尚未证实所有失败的唯一根因。44个模型闭环MP4完整解码与SHA核验。使用冻结随机reset及手动渲染域，不是官方初态benchmark。</a:t>
            </a:r>
          </a:p>
          <a:p xmlns:a="http://schemas.openxmlformats.org/drawingml/2006/main">
            <a:r>
              <a:t>结论是数据与训练工程链路完成，ECO65+ZhiXing高成功率策略适配尚未验收。本演示仅展示教师采集与微调工作，不包含量化部署。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资料来源（服务器资料的本地核对副本）：</a:t>
            </a:r>
          </a:p>
          <a:p xmlns:a="http://schemas.openxmlformats.org/drawingml/2006/main">
            <a:r>
              <a:t>/Users/yuyu/Documents/openpi/agent-work-space/3-lora-validation/README.md</a:t>
            </a:r>
          </a:p>
          <a:p xmlns:a="http://schemas.openxmlformats.org/drawingml/2006/main">
            <a:r>
              <a:t>/Users/yuyu/Documents/openpi/agent-work-space/5-final-train/versions/lora_20261007_r1/方案.md</a:t>
            </a:r>
          </a:p>
          <a:p xmlns:a="http://schemas.openxmlformats.org/drawingml/2006/main">
            <a:r>
              <a:t>/Users/yuyu/Documents/openpi/agent-work-space/5-final-train/reports/training_complete_verified_20261008_r1.json</a:t>
            </a:r>
          </a:p>
          <a:p xmlns:a="http://schemas.openxmlformats.org/drawingml/2006/main">
            <a:r>
              <a:t>/Users/yuyu/Documents/openpi/agent-work-space/5-final-train/runs/closed_loop_readback_20261008_r2/verified_results.json</a:t>
            </a:r>
          </a:p>
          <a:p xmlns:a="http://schemas.openxmlformats.org/drawingml/2006/main">
            <a:r>
              <a:t>/Users/yuyu/Documents/openpi/agent-work-space/5-final-train/闭环测试恢复与完成记录_20261008_r2.md</a:t>
            </a:r>
          </a:p>
          <a:p xmlns:a="http://schemas.openxmlformats.org/drawingml/2006/main">
            <a:r>
              <a:t>/Users/yuyu/Documents/openpi/agent-work-space/5-final-train/当前版本与文件索引_20261008_r2.md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e3d41d418741f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202e97988b43d1" /><Relationship Type="http://schemas.openxmlformats.org/officeDocument/2006/relationships/slideLayout" Target="/ppt/slideLayouts/slideLayout1.xml" Id="Rbd3fdaae28214f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3fdaae28214f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7b4c9c6b6e41f5" /><Relationship Type="http://schemas.openxmlformats.org/officeDocument/2006/relationships/notesSlide" Target="/ppt/notesSlides/notesSlide1.xml" Id="Rbfccded1b72f48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8fd275cb4f44e8" /><Relationship Type="http://schemas.openxmlformats.org/officeDocument/2006/relationships/chart" Target="/ppt/slides/charts/chart1.xml" Id="R8e10093f5fb845e1" /><Relationship Type="http://schemas.openxmlformats.org/officeDocument/2006/relationships/notesSlide" Target="/ppt/notesSlides/notesSlide2.xml" Id="Re6944358e5b741c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任务均衡验证损失</c:v>
          </c:tx>
          <c:spPr>
            <a:ln xmlns:a="http://schemas.openxmlformats.org/drawingml/2006/main" w="28575">
              <a:solidFill>
                <a:srgbClr val="087F83"/>
              </a:solidFill>
            </a:ln>
          </c:spPr>
          <c:marker>
            <c:symbol val="circle"/>
            <c:size val="6"/>
            <c:spPr>
              <a:solidFill xmlns:a="http://schemas.openxmlformats.org/drawingml/2006/main">
                <a:srgbClr val="087F83"/>
              </a:solidFill>
            </c:spPr>
          </c:marke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700">
                      <a:solidFill>
                        <a:srgbClr val="152C40"/>
                      </a:solidFill>
                      <a:latin typeface="Heiti TC"/>
                      <a:ea typeface="Heiti TC"/>
                      <a:cs typeface="Heiti T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700">
                      <a:solidFill>
                        <a:srgbClr val="152C40"/>
                      </a:solidFill>
                      <a:latin typeface="Heiti TC"/>
                      <a:ea typeface="Heiti TC"/>
                      <a:cs typeface="Heiti T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700">
                    <a:solidFill>
                      <a:srgbClr val="152C40"/>
                    </a:solidFill>
                    <a:latin typeface="Heiti TC"/>
                    <a:ea typeface="Heiti TC"/>
                    <a:cs typeface="Heiti TC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Data'!$A$2:$A$7</c:f>
              <c:strCache>
                <c:ptCount val="6"/>
                <c:pt idx="0">
                  <c:v>0</c:v>
                </c:pt>
                <c:pt idx="1">
                  <c:v>2k</c:v>
                </c:pt>
                <c:pt idx="2">
                  <c:v>4k</c:v>
                </c:pt>
                <c:pt idx="3">
                  <c:v>6k</c:v>
                </c:pt>
                <c:pt idx="4">
                  <c:v>8k</c:v>
                </c:pt>
                <c:pt idx="5">
                  <c:v>10k</c:v>
                </c:pt>
              </c:strCache>
            </c:strRef>
          </c:cat>
          <c:val>
            <c:numRef>
              <c:f>'Chart Data'!$B$2:$B$7</c:f>
              <c:numCache>
                <c:formatCode>0.000</c:formatCode>
                <c:ptCount val="6"/>
                <c:pt idx="0">
                  <c:v>0.30261685</c:v>
                </c:pt>
                <c:pt idx="1">
                  <c:v>0.03766954</c:v>
                </c:pt>
                <c:pt idx="2">
                  <c:v>0.029659852</c:v>
                </c:pt>
                <c:pt idx="3">
                  <c:v>0.025129033</c:v>
                </c:pt>
                <c:pt idx="4">
                  <c:v>0.021540306</c:v>
                </c:pt>
                <c:pt idx="5">
                  <c:v>0.020352864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00">
                  <a:solidFill>
                    <a:srgbClr val="152C40"/>
                  </a:solidFill>
                  <a:latin typeface="Heiti TC"/>
                  <a:ea typeface="Heiti TC"/>
                  <a:cs typeface="Heiti T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CE3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00">
                <a:solidFill>
                  <a:srgbClr val="596873"/>
                </a:solidFill>
                <a:latin typeface="Heiti TC"/>
                <a:ea typeface="Heiti TC"/>
                <a:cs typeface="Heiti TC"/>
              </a:defRPr>
            </a:pPr>
          </a:p>
        </c:txPr>
        <c:crossAx val="48672768"/>
      </c:catAx>
      <c:valAx>
        <c:axId val="48672768"/>
        <c:scaling>
          <c:orientation val="minMax"/>
          <c:max val="0.3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E7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00">
                <a:solidFill>
                  <a:srgbClr val="596873"/>
                </a:solidFill>
                <a:latin typeface="Heiti TC"/>
                <a:ea typeface="Heiti TC"/>
                <a:cs typeface="Heiti TC"/>
              </a:defRPr>
            </a:pPr>
          </a:p>
        </c:txPr>
        <c:crossAx val="48650112"/>
        <c:crossBetween val="between"/>
        <c:majorUnit val="0.1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A995C7FC-0467-4383-AEE4-721390DA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11201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教师数据采集：228 条合格示范完成验证</a:t>
            </a:r>
          </a:p>
        </p:txBody>
      </p:sp>
      <p:sp>
        <p:nvSpPr>
          <p:cNvPr id="2" name="scope">
            <a:extLst xmlns:a="http://schemas.openxmlformats.org/drawingml/2006/main">
              <a:ext uri="{FF2B5EF4-FFF2-40B4-BE49-F238E27FC236}">
                <a16:creationId xmlns:a16="http://schemas.microsoft.com/office/drawing/2014/main" id="{AEBB4ADD-EEA1-4EC8-870E-5EBFF391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118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873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96873"/>
                </a:solidFill>
                <a:latin typeface="Heiti TC"/>
                <a:ea typeface="Heiti TC"/>
                <a:cs typeface="Heiti TC"/>
              </a:rPr>
              <a:t>ECO65＋ZhiXing，LIBERO Spatial，多任务脚本教师与正式采集</a:t>
            </a:r>
          </a:p>
        </p:txBody>
      </p:sp>
      <p:sp>
        <p:nvSpPr>
          <p:cNvPr id="3" name="route-heading">
            <a:extLst xmlns:a="http://schemas.openxmlformats.org/drawingml/2006/main">
              <a:ext uri="{FF2B5EF4-FFF2-40B4-BE49-F238E27FC236}">
                <a16:creationId xmlns:a16="http://schemas.microsoft.com/office/drawing/2014/main" id="{B4BDD730-7D09-4254-BE49-523EFE54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82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00" b="1">
                <a:solidFill>
                  <a:srgbClr val="087F83"/>
                </a:solidFill>
                <a:latin typeface="Heiti TC"/>
                <a:ea typeface="Heiti TC"/>
                <a:cs typeface="Heiti TC"/>
              </a:defRPr>
            </a:pPr>
            <a:r>
              <a:rPr sz="1700" b="1">
                <a:solidFill>
                  <a:srgbClr val="087F83"/>
                </a:solidFill>
                <a:latin typeface="Heiti TC"/>
                <a:ea typeface="Heiti TC"/>
                <a:cs typeface="Heiti TC"/>
              </a:rPr>
              <a:t>技术路线</a:t>
            </a:r>
          </a:p>
        </p:txBody>
      </p:sp>
      <p:sp>
        <p:nvSpPr>
          <p:cNvPr id="4" name="route-stage-1">
            <a:extLst xmlns:a="http://schemas.openxmlformats.org/drawingml/2006/main">
              <a:ext uri="{FF2B5EF4-FFF2-40B4-BE49-F238E27FC236}">
                <a16:creationId xmlns:a16="http://schemas.microsoft.com/office/drawing/2014/main" id="{EBB5D294-1883-437F-93E5-DDBB588A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25812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CE3E7"/>
            </a:solidFill>
          </a:ln>
        </p:spPr>
        <p:txBody>
          <a:bodyPr xmlns:a="http://schemas.openxmlformats.org/drawingml/2006/main" wrap="none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脚本教师规划</a:t>
            </a:r>
          </a:p>
        </p:txBody>
      </p:sp>
      <p:sp>
        <p:nvSpPr>
          <p:cNvPr id="5" name="route-stage-2">
            <a:extLst xmlns:a="http://schemas.openxmlformats.org/drawingml/2006/main">
              <a:ext uri="{FF2B5EF4-FFF2-40B4-BE49-F238E27FC236}">
                <a16:creationId xmlns:a16="http://schemas.microsoft.com/office/drawing/2014/main" id="{8728D3C2-8590-473B-8B5A-B609FA41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752600"/>
            <a:ext cx="25812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CE3E7"/>
            </a:solidFill>
          </a:ln>
        </p:spPr>
        <p:txBody>
          <a:bodyPr xmlns:a="http://schemas.openxmlformats.org/drawingml/2006/main" wrap="none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新场景回归准入</a:t>
            </a:r>
          </a:p>
        </p:txBody>
      </p:sp>
      <p:sp>
        <p:nvSpPr>
          <p:cNvPr id="6" name="route-stage-3">
            <a:extLst xmlns:a="http://schemas.openxmlformats.org/drawingml/2006/main">
              <a:ext uri="{FF2B5EF4-FFF2-40B4-BE49-F238E27FC236}">
                <a16:creationId xmlns:a16="http://schemas.microsoft.com/office/drawing/2014/main" id="{C4CF4C80-36FF-4313-83ED-77101722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52600"/>
            <a:ext cx="25812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CE3E7"/>
            </a:solidFill>
          </a:ln>
        </p:spPr>
        <p:txBody>
          <a:bodyPr xmlns:a="http://schemas.openxmlformats.org/drawingml/2006/main" wrap="none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正式采集与审核</a:t>
            </a:r>
          </a:p>
        </p:txBody>
      </p:sp>
      <p:sp>
        <p:nvSpPr>
          <p:cNvPr id="7" name="route-stage-4">
            <a:extLst xmlns:a="http://schemas.openxmlformats.org/drawingml/2006/main">
              <a:ext uri="{FF2B5EF4-FFF2-40B4-BE49-F238E27FC236}">
                <a16:creationId xmlns:a16="http://schemas.microsoft.com/office/drawing/2014/main" id="{E03A28E3-4393-4743-8E52-E10F5C774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1752600"/>
            <a:ext cx="25812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CE3E7"/>
            </a:solidFill>
          </a:ln>
        </p:spPr>
        <p:txBody>
          <a:bodyPr xmlns:a="http://schemas.openxmlformats.org/drawingml/2006/main" wrap="none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LeRobot 转换验证</a:t>
            </a:r>
          </a:p>
        </p:txBody>
      </p:sp>
      <p:cxnSp>
        <p:nvCxnSpPr>
          <p:cNvPr id="27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095625" y="19716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87F83"/>
            </a:solidFill>
            <a:tailEnd type="triangle" w="sm" len="sm"/>
          </a:ln>
        </p:spPr>
      </p:cxnSp>
      <p:cxnSp>
        <p:nvCxnSpPr>
          <p:cNvPr id="2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962650" y="19716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87F83"/>
            </a:solidFill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829675" y="19716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87F83"/>
            </a:solidFill>
            <a:tailEnd type="triangle" w="sm" len="sm"/>
          </a:ln>
        </p:spPr>
      </p:cxnSp>
      <p:sp>
        <p:nvSpPr>
          <p:cNvPr id="11" name="teacher-heading">
            <a:extLst xmlns:a="http://schemas.openxmlformats.org/drawingml/2006/main">
              <a:ext uri="{FF2B5EF4-FFF2-40B4-BE49-F238E27FC236}">
                <a16:creationId xmlns:a16="http://schemas.microsoft.com/office/drawing/2014/main" id="{19AC0370-46C6-4E22-8F9C-FBD2DAD9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5276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00" b="1">
                <a:solidFill>
                  <a:srgbClr val="087F83"/>
                </a:solidFill>
                <a:latin typeface="Heiti TC"/>
                <a:ea typeface="Heiti TC"/>
                <a:cs typeface="Heiti TC"/>
              </a:defRPr>
            </a:pPr>
            <a:r>
              <a:rPr sz="2300" b="1">
                <a:solidFill>
                  <a:srgbClr val="087F83"/>
                </a:solidFill>
                <a:latin typeface="Heiti TC"/>
                <a:ea typeface="Heiti TC"/>
                <a:cs typeface="Heiti TC"/>
              </a:rPr>
              <a:t>教师开发与准入</a:t>
            </a:r>
          </a:p>
        </p:txBody>
      </p:sp>
      <p:sp>
        <p:nvSpPr>
          <p:cNvPr id="12" name="teacher-work">
            <a:extLst xmlns:a="http://schemas.openxmlformats.org/drawingml/2006/main">
              <a:ext uri="{FF2B5EF4-FFF2-40B4-BE49-F238E27FC236}">
                <a16:creationId xmlns:a16="http://schemas.microsoft.com/office/drawing/2014/main" id="{1DCBDA5C-C3F6-4D1C-8A75-67955CC9D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67025"/>
            <a:ext cx="52768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完成罐入篮扩展，逐项开发 Spatial 教师</a:t>
            </a:r>
          </a:p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完善抓取点、搬运净空与阶段到位判断</a:t>
            </a:r>
          </a:p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每任务 3 次回归，至少 2 次合格才放行</a:t>
            </a:r>
          </a:p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5 个任务入选，task8 回归失败未入库</a:t>
            </a:r>
          </a:p>
        </p:txBody>
      </p:sp>
      <p:sp>
        <p:nvSpPr>
          <p:cNvPr id="13" name="collection-heading">
            <a:extLst xmlns:a="http://schemas.openxmlformats.org/drawingml/2006/main">
              <a:ext uri="{FF2B5EF4-FFF2-40B4-BE49-F238E27FC236}">
                <a16:creationId xmlns:a16="http://schemas.microsoft.com/office/drawing/2014/main" id="{28A1B06F-BBD8-44C7-823B-6E13D810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95775"/>
            <a:ext cx="527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1">
                <a:solidFill>
                  <a:srgbClr val="087F83"/>
                </a:solidFill>
                <a:latin typeface="Heiti TC"/>
                <a:ea typeface="Heiti TC"/>
                <a:cs typeface="Heiti TC"/>
              </a:defRPr>
            </a:pPr>
            <a:r>
              <a:rPr sz="2200" b="1">
                <a:solidFill>
                  <a:srgbClr val="087F83"/>
                </a:solidFill>
                <a:latin typeface="Heiti TC"/>
                <a:ea typeface="Heiti TC"/>
                <a:cs typeface="Heiti TC"/>
              </a:rPr>
              <a:t>采集与数据质量</a:t>
            </a:r>
          </a:p>
        </p:txBody>
      </p:sp>
      <p:sp>
        <p:nvSpPr>
          <p:cNvPr id="14" name="collection-work">
            <a:extLst xmlns:a="http://schemas.openxmlformats.org/drawingml/2006/main">
              <a:ext uri="{FF2B5EF4-FFF2-40B4-BE49-F238E27FC236}">
                <a16:creationId xmlns:a16="http://schemas.microsoft.com/office/drawing/2014/main" id="{B90BDA82-FBE3-4933-B090-426B389A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52975"/>
            <a:ext cx="53911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原生场景复位，失败与中断原样留存</a:t>
            </a:r>
          </a:p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双 RGB＋语言＋状态，记录 7 维动作</a:t>
            </a:r>
          </a:p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物理审核与动作回放，LeRobot 全量读回</a:t>
            </a:r>
          </a:p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原始像素误差 0，训练／验证／测试隔离</a:t>
            </a:r>
          </a:p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五个采集任务各保留 1 段 MP4</a:t>
            </a:r>
          </a:p>
        </p:txBody>
      </p:sp>
      <p:sp>
        <p:nvSpPr>
          <p:cNvPr id="15" name="data-heading">
            <a:extLst xmlns:a="http://schemas.openxmlformats.org/drawingml/2006/main">
              <a:ext uri="{FF2B5EF4-FFF2-40B4-BE49-F238E27FC236}">
                <a16:creationId xmlns:a16="http://schemas.microsoft.com/office/drawing/2014/main" id="{143835F4-9DCC-464E-9BE7-68422DB83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09825"/>
            <a:ext cx="5448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00" b="1">
                <a:solidFill>
                  <a:srgbClr val="087F83"/>
                </a:solidFill>
                <a:latin typeface="Heiti TC"/>
                <a:ea typeface="Heiti TC"/>
                <a:cs typeface="Heiti TC"/>
              </a:defRPr>
            </a:pPr>
            <a:r>
              <a:rPr sz="2300" b="1">
                <a:solidFill>
                  <a:srgbClr val="087F83"/>
                </a:solidFill>
                <a:latin typeface="Heiti TC"/>
                <a:ea typeface="Heiti TC"/>
                <a:cs typeface="Heiti TC"/>
              </a:rPr>
              <a:t>正式数据结果</a:t>
            </a:r>
          </a:p>
        </p:txBody>
      </p:sp>
      <p:sp>
        <p:nvSpPr>
          <p:cNvPr id="16" name="attempts">
            <a:extLst xmlns:a="http://schemas.openxmlformats.org/drawingml/2006/main">
              <a:ext uri="{FF2B5EF4-FFF2-40B4-BE49-F238E27FC236}">
                <a16:creationId xmlns:a16="http://schemas.microsoft.com/office/drawing/2014/main" id="{3BEBA9FD-C668-40EE-923B-4555F254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57500"/>
            <a:ext cx="5448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873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96873"/>
                </a:solidFill>
                <a:latin typeface="Heiti TC"/>
                <a:ea typeface="Heiti TC"/>
                <a:cs typeface="Heiti TC"/>
              </a:rPr>
              <a:t>310 次尝试，228 条准入，82 次未入库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6248400" y="3295650"/>
          <a:ext xmlns:a="http://schemas.openxmlformats.org/drawingml/2006/main" cx="5448300" cy="2667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590675"/>
                <a:gridCol w="1285875"/>
                <a:gridCol w="1285875"/>
                <a:gridCol w="1285875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任务</a:t>
                      </a:r>
                    </a:p>
                  </a:txBody>
                  <a:tcPr marL="114300" marR="114300" marT="66675" marB="66675" anchor="ctr">
                    <a:solidFill>
                      <a:srgbClr val="152C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训练</a:t>
                      </a:r>
                    </a:p>
                  </a:txBody>
                  <a:tcPr marL="114300" marR="114300" marT="66675" marB="66675" anchor="ctr">
                    <a:solidFill>
                      <a:srgbClr val="152C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验证</a:t>
                      </a:r>
                    </a:p>
                  </a:txBody>
                  <a:tcPr marL="114300" marR="114300" marT="66675" marB="66675" anchor="ctr">
                    <a:solidFill>
                      <a:srgbClr val="152C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合计</a:t>
                      </a:r>
                    </a:p>
                  </a:txBody>
                  <a:tcPr marL="114300" marR="114300" marT="66675" marB="66675" anchor="ctr">
                    <a:solidFill>
                      <a:srgbClr val="152C4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0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22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7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29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2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30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7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37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3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48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9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57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5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47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10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57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6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42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6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48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合计</a:t>
                      </a:r>
                    </a:p>
                  </a:txBody>
                  <a:tcPr marL="114300" marR="114300" marT="66675" marB="66675" anchor="ctr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189</a:t>
                      </a:r>
                    </a:p>
                  </a:txBody>
                  <a:tcPr marL="114300" marR="114300" marT="66675" marB="66675" anchor="ctr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39</a:t>
                      </a:r>
                    </a:p>
                  </a:txBody>
                  <a:tcPr marL="114300" marR="114300" marT="66675" marB="66675" anchor="ctr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228</a:t>
                      </a:r>
                    </a:p>
                  </a:txBody>
                  <a:tcPr marL="114300" marR="114300" marT="66675" marB="66675" anchor="ctr">
                    <a:solidFill>
                      <a:srgbClr val="E8F3F3"/>
                    </a:solidFill>
                  </a:tcPr>
                </a:tc>
              </a:tr>
            </a:tbl>
          </a:graphicData>
        </a:graphic>
      </p:graphicFrame>
      <p:sp>
        <p:nvSpPr>
          <p:cNvPr id="18" name="frame-count">
            <a:extLst xmlns:a="http://schemas.openxmlformats.org/drawingml/2006/main">
              <a:ext uri="{FF2B5EF4-FFF2-40B4-BE49-F238E27FC236}">
                <a16:creationId xmlns:a16="http://schemas.microsoft.com/office/drawing/2014/main" id="{54B17B82-A505-4844-893E-A8DB381D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238875"/>
            <a:ext cx="5448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2000" b="1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170,724 动作帧，341,448 张双视角图像</a:t>
            </a:r>
          </a:p>
        </p:txBody>
      </p:sp>
      <p:sp>
        <p:nvSpPr>
          <p:cNvPr id="19" name="page">
            <a:extLst xmlns:a="http://schemas.openxmlformats.org/drawingml/2006/main">
              <a:ext uri="{FF2B5EF4-FFF2-40B4-BE49-F238E27FC236}">
                <a16:creationId xmlns:a16="http://schemas.microsoft.com/office/drawing/2014/main" id="{0B0E17FD-E16B-4FEC-A4CA-7629E41D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81775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596873"/>
                </a:solidFill>
                <a:latin typeface="Heiti TC"/>
                <a:ea typeface="Heiti TC"/>
                <a:cs typeface="Heiti TC"/>
              </a:defRPr>
            </a:pPr>
            <a:r>
              <a:rPr sz="1400" b="0">
                <a:solidFill>
                  <a:srgbClr val="596873"/>
                </a:solidFill>
                <a:latin typeface="Heiti TC"/>
                <a:ea typeface="Heiti TC"/>
                <a:cs typeface="Heiti TC"/>
              </a:rPr>
              <a:t>1 / 2</a:t>
            </a:r>
          </a:p>
        </p:txBody>
      </p:sp>
    </p:spTree>
    <p:extLst>
      <p:ext uri="{BB962C8B-B14F-4D97-AF65-F5344CB8AC3E}">
        <p14:creationId xmlns:p14="http://schemas.microsoft.com/office/powerpoint/2010/main" val="18493559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FD5675C4-DE02-42CB-A547-657D25D37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11201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3300" b="1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π0.5 LoRA 微调实现与验证结果</a:t>
            </a:r>
          </a:p>
        </p:txBody>
      </p:sp>
      <p:sp>
        <p:nvSpPr>
          <p:cNvPr id="2" name="scope">
            <a:extLst xmlns:a="http://schemas.openxmlformats.org/drawingml/2006/main">
              <a:ext uri="{FF2B5EF4-FFF2-40B4-BE49-F238E27FC236}">
                <a16:creationId xmlns:a16="http://schemas.microsoft.com/office/drawing/2014/main" id="{15429A57-4E1C-43FA-A238-3F9DD290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11182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873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96873"/>
                </a:solidFill>
                <a:latin typeface="Heiti TC"/>
                <a:ea typeface="Heiti TC"/>
                <a:cs typeface="Heiti TC"/>
              </a:rPr>
              <a:t>pi05_libero 基座，JAX/Flax，ECO65＋ZhiXing，2026-10-08</a:t>
            </a:r>
          </a:p>
        </p:txBody>
      </p:sp>
      <p:sp>
        <p:nvSpPr>
          <p:cNvPr id="3" name="route-heading">
            <a:extLst xmlns:a="http://schemas.openxmlformats.org/drawingml/2006/main">
              <a:ext uri="{FF2B5EF4-FFF2-40B4-BE49-F238E27FC236}">
                <a16:creationId xmlns:a16="http://schemas.microsoft.com/office/drawing/2014/main" id="{A092484D-64C8-42D2-A0B0-B6F951DE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1182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00" b="1">
                <a:solidFill>
                  <a:srgbClr val="087F83"/>
                </a:solidFill>
                <a:latin typeface="Heiti TC"/>
                <a:ea typeface="Heiti TC"/>
                <a:cs typeface="Heiti TC"/>
              </a:defRPr>
            </a:pPr>
            <a:r>
              <a:rPr sz="1700" b="1">
                <a:solidFill>
                  <a:srgbClr val="087F83"/>
                </a:solidFill>
                <a:latin typeface="Heiti TC"/>
                <a:ea typeface="Heiti TC"/>
                <a:cs typeface="Heiti TC"/>
              </a:rPr>
              <a:t>技术路线</a:t>
            </a:r>
          </a:p>
        </p:txBody>
      </p:sp>
      <p:sp>
        <p:nvSpPr>
          <p:cNvPr id="4" name="route-stage-1">
            <a:extLst xmlns:a="http://schemas.openxmlformats.org/drawingml/2006/main">
              <a:ext uri="{FF2B5EF4-FFF2-40B4-BE49-F238E27FC236}">
                <a16:creationId xmlns:a16="http://schemas.microsoft.com/office/drawing/2014/main" id="{BC8651E9-2C25-49FA-8BDA-881D1655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25812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CE3E7"/>
            </a:solidFill>
          </a:ln>
        </p:spPr>
        <p:txBody>
          <a:bodyPr xmlns:a="http://schemas.openxmlformats.org/drawingml/2006/main" wrap="none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基座模型＋示范数据</a:t>
            </a:r>
          </a:p>
        </p:txBody>
      </p:sp>
      <p:sp>
        <p:nvSpPr>
          <p:cNvPr id="5" name="route-stage-2">
            <a:extLst xmlns:a="http://schemas.openxmlformats.org/drawingml/2006/main">
              <a:ext uri="{FF2B5EF4-FFF2-40B4-BE49-F238E27FC236}">
                <a16:creationId xmlns:a16="http://schemas.microsoft.com/office/drawing/2014/main" id="{EAA07D5E-B2AB-455D-B4DF-721ABA3F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752600"/>
            <a:ext cx="25812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CE3E7"/>
            </a:solidFill>
          </a:ln>
        </p:spPr>
        <p:txBody>
          <a:bodyPr xmlns:a="http://schemas.openxmlformats.org/drawingml/2006/main" wrap="none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语言与动作专家 LoRA</a:t>
            </a:r>
          </a:p>
        </p:txBody>
      </p:sp>
      <p:sp>
        <p:nvSpPr>
          <p:cNvPr id="6" name="route-stage-3">
            <a:extLst xmlns:a="http://schemas.openxmlformats.org/drawingml/2006/main">
              <a:ext uri="{FF2B5EF4-FFF2-40B4-BE49-F238E27FC236}">
                <a16:creationId xmlns:a16="http://schemas.microsoft.com/office/drawing/2014/main" id="{AF6DDA69-4050-47A7-A7AD-AAD8E561A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52600"/>
            <a:ext cx="25812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CE3E7"/>
            </a:solidFill>
          </a:ln>
        </p:spPr>
        <p:txBody>
          <a:bodyPr xmlns:a="http://schemas.openxmlformats.org/drawingml/2006/main" wrap="none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固定验证与选模</a:t>
            </a:r>
          </a:p>
        </p:txBody>
      </p:sp>
      <p:sp>
        <p:nvSpPr>
          <p:cNvPr id="7" name="route-stage-4">
            <a:extLst xmlns:a="http://schemas.openxmlformats.org/drawingml/2006/main">
              <a:ext uri="{FF2B5EF4-FFF2-40B4-BE49-F238E27FC236}">
                <a16:creationId xmlns:a16="http://schemas.microsoft.com/office/drawing/2014/main" id="{FE2E2D11-BC75-4B8F-B564-4DF50D0E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1752600"/>
            <a:ext cx="25812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CE3E7"/>
            </a:solidFill>
          </a:ln>
        </p:spPr>
        <p:txBody>
          <a:bodyPr xmlns:a="http://schemas.openxmlformats.org/drawingml/2006/main" wrap="none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独立重载与闭环验证</a:t>
            </a:r>
          </a:p>
        </p:txBody>
      </p:sp>
      <p:cxnSp>
        <p:nvCxnSpPr>
          <p:cNvPr id="28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095625" y="19716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87F83"/>
            </a:solidFill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962650" y="19716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87F83"/>
            </a:solidFill>
            <a:tailEnd type="triangle" w="sm" len="sm"/>
          </a:ln>
        </p:spPr>
      </p:cxnSp>
      <p:cxnSp>
        <p:nvCxnSpPr>
          <p:cNvPr id="3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829675" y="19716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87F83"/>
            </a:solidFill>
            <a:tailEnd type="triangle" w="sm" len="sm"/>
          </a:ln>
        </p:spPr>
      </p:cxnSp>
      <p:sp>
        <p:nvSpPr>
          <p:cNvPr id="11" name="implementation-heading">
            <a:extLst xmlns:a="http://schemas.openxmlformats.org/drawingml/2006/main">
              <a:ext uri="{FF2B5EF4-FFF2-40B4-BE49-F238E27FC236}">
                <a16:creationId xmlns:a16="http://schemas.microsoft.com/office/drawing/2014/main" id="{A227606B-A432-496E-9B81-CA7DA13B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5276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00" b="1">
                <a:solidFill>
                  <a:srgbClr val="087F83"/>
                </a:solidFill>
                <a:latin typeface="Heiti TC"/>
                <a:ea typeface="Heiti TC"/>
                <a:cs typeface="Heiti TC"/>
              </a:defRPr>
            </a:pPr>
            <a:r>
              <a:rPr sz="2300" b="1">
                <a:solidFill>
                  <a:srgbClr val="087F83"/>
                </a:solidFill>
                <a:latin typeface="Heiti TC"/>
                <a:ea typeface="Heiti TC"/>
                <a:cs typeface="Heiti TC"/>
              </a:rPr>
              <a:t>微调实现</a:t>
            </a:r>
          </a:p>
        </p:txBody>
      </p:sp>
      <p:sp>
        <p:nvSpPr>
          <p:cNvPr id="12" name="implementation">
            <a:extLst xmlns:a="http://schemas.openxmlformats.org/drawingml/2006/main">
              <a:ext uri="{FF2B5EF4-FFF2-40B4-BE49-F238E27FC236}">
                <a16:creationId xmlns:a16="http://schemas.microsoft.com/office/drawing/2014/main" id="{CF566DAB-130D-4166-84A5-5B7AE1C9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67025"/>
            <a:ext cx="527685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双 RGB＋语言输入，预测 10 步动作块</a:t>
            </a:r>
          </a:p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语言与动作专家 LoRA，冻结其他参数</a:t>
            </a:r>
          </a:p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任务均衡，Batch 4，10,000 步，122.7 分钟</a:t>
            </a:r>
          </a:p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每 2,000 步验证，选中 checkpoint 10000</a:t>
            </a:r>
          </a:p>
          <a:p xmlns:a="http://schemas.openxmlformats.org/drawingml/2006/main">
            <a:pPr>
              <a:defRPr sz="1800" b="0">
                <a:solidFill>
                  <a:srgbClr val="152C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52C40"/>
                </a:solidFill>
                <a:latin typeface="Heiti TC"/>
                <a:ea typeface="Heiti TC"/>
                <a:cs typeface="Heiti TC"/>
              </a:rPr>
              <a:t>独立重载：参数一致，同噪声预测误差 0</a:t>
            </a:r>
          </a:p>
        </p:txBody>
      </p:sp>
      <p:sp>
        <p:nvSpPr>
          <p:cNvPr id="13" name="loss-heading">
            <a:extLst xmlns:a="http://schemas.openxmlformats.org/drawingml/2006/main">
              <a:ext uri="{FF2B5EF4-FFF2-40B4-BE49-F238E27FC236}">
                <a16:creationId xmlns:a16="http://schemas.microsoft.com/office/drawing/2014/main" id="{E18CCF82-3868-4F64-B123-DA3D4B0A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86275"/>
            <a:ext cx="5276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3"/>
                </a:solidFill>
                <a:latin typeface="Heiti TC"/>
                <a:ea typeface="Heiti TC"/>
                <a:cs typeface="Heiti TC"/>
              </a:defRPr>
            </a:pPr>
            <a:r>
              <a:rPr sz="2100" b="1">
                <a:solidFill>
                  <a:srgbClr val="087F83"/>
                </a:solidFill>
                <a:latin typeface="Heiti TC"/>
                <a:ea typeface="Heiti TC"/>
                <a:cs typeface="Heiti TC"/>
              </a:rPr>
              <a:t>任务均衡验证损失下降 93.3%</a:t>
            </a:r>
          </a:p>
        </p:txBody>
      </p:sp>
      <p:graphicFrame>
        <p:nvGraphicFramePr>
          <p:cNvPr id="34" name="Chart"/>
          <p:cNvGraphicFramePr/>
          <p:nvPr/>
        </p:nvGraphicFramePr>
        <p:xfrm>
          <a:off xmlns:a="http://schemas.openxmlformats.org/drawingml/2006/main" x="457200" y="4886325"/>
          <a:ext xmlns:a="http://schemas.openxmlformats.org/drawingml/2006/main" cx="5314950" cy="15144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e10093f5fb845e1"/>
          </a:graphicData>
        </a:graphic>
      </p:graphicFrame>
      <p:sp>
        <p:nvSpPr>
          <p:cNvPr id="15" name="x-axis-caption">
            <a:extLst xmlns:a="http://schemas.openxmlformats.org/drawingml/2006/main">
              <a:ext uri="{FF2B5EF4-FFF2-40B4-BE49-F238E27FC236}">
                <a16:creationId xmlns:a16="http://schemas.microsoft.com/office/drawing/2014/main" id="{AEDFB46E-FF0B-4B8E-8862-00527186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642937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00" b="0">
                <a:solidFill>
                  <a:srgbClr val="596873"/>
                </a:solidFill>
                <a:latin typeface="Heiti TC"/>
                <a:ea typeface="Heiti TC"/>
                <a:cs typeface="Heiti TC"/>
              </a:defRPr>
            </a:pPr>
            <a:r>
              <a:rPr sz="1700" b="0">
                <a:solidFill>
                  <a:srgbClr val="596873"/>
                </a:solidFill>
                <a:latin typeface="Heiti TC"/>
                <a:ea typeface="Heiti TC"/>
                <a:cs typeface="Heiti TC"/>
              </a:rPr>
              <a:t>训练步数</a:t>
            </a:r>
          </a:p>
        </p:txBody>
      </p:sp>
      <p:sp>
        <p:nvSpPr>
          <p:cNvPr id="16" name="results-heading">
            <a:extLst xmlns:a="http://schemas.openxmlformats.org/drawingml/2006/main">
              <a:ext uri="{FF2B5EF4-FFF2-40B4-BE49-F238E27FC236}">
                <a16:creationId xmlns:a16="http://schemas.microsoft.com/office/drawing/2014/main" id="{32D3DC42-BE66-45E0-8586-91A40169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9825"/>
            <a:ext cx="560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00" b="1">
                <a:solidFill>
                  <a:srgbClr val="B34432"/>
                </a:solidFill>
                <a:latin typeface="Heiti TC"/>
                <a:ea typeface="Heiti TC"/>
                <a:cs typeface="Heiti TC"/>
              </a:defRPr>
            </a:pPr>
            <a:r>
              <a:rPr sz="2300" b="1">
                <a:solidFill>
                  <a:srgbClr val="B34432"/>
                </a:solidFill>
                <a:latin typeface="Heiti TC"/>
                <a:ea typeface="Heiti TC"/>
                <a:cs typeface="Heiti TC"/>
              </a:rPr>
              <a:t>闭环验证：微调模型 0/200</a:t>
            </a:r>
          </a:p>
        </p:txBody>
      </p:sp>
      <p:sp>
        <p:nvSpPr>
          <p:cNvPr id="17" name="rollout-scope">
            <a:extLst xmlns:a="http://schemas.openxmlformats.org/drawingml/2006/main">
              <a:ext uri="{FF2B5EF4-FFF2-40B4-BE49-F238E27FC236}">
                <a16:creationId xmlns:a16="http://schemas.microsoft.com/office/drawing/2014/main" id="{3FD227C5-2310-414D-AC8E-083ACC90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38450"/>
            <a:ext cx="5600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873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96873"/>
                </a:solidFill>
                <a:latin typeface="Heiti TC"/>
                <a:ea typeface="Heiti TC"/>
                <a:cs typeface="Heiti TC"/>
              </a:rPr>
              <a:t>10 个任务各 20 次，220 步主预算</a:t>
            </a:r>
          </a:p>
        </p:txBody>
      </p:sp>
      <p:graphicFrame>
        <p:nvGraphicFramePr>
          <p:cNvPr id="38" name=""/>
          <p:cNvGraphicFramePr/>
          <p:nvPr/>
        </p:nvGraphicFramePr>
        <p:xfrm>
          <a:off xmlns:a="http://schemas.openxmlformats.org/drawingml/2006/main" x="6096000" y="3295650"/>
          <a:ext xmlns:a="http://schemas.openxmlformats.org/drawingml/2006/main" cx="5600700" cy="21431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400425"/>
                <a:gridCol w="1104900"/>
                <a:gridCol w="1095375"/>
              </a:tblGrid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策略</a:t>
                      </a:r>
                    </a:p>
                  </a:txBody>
                  <a:tcPr marL="114300" marR="114300" marT="66675" marB="66675" anchor="ctr">
                    <a:solidFill>
                      <a:srgbClr val="152C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成功</a:t>
                      </a:r>
                    </a:p>
                  </a:txBody>
                  <a:tcPr marL="114300" marR="114300" marT="66675" marB="66675" anchor="ctr">
                    <a:solidFill>
                      <a:srgbClr val="152C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成功率</a:t>
                      </a:r>
                    </a:p>
                  </a:txBody>
                  <a:tcPr marL="114300" marR="114300" marT="66675" marB="66675" anchor="ctr">
                    <a:solidFill>
                      <a:srgbClr val="152C40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ECO65＋ZhiXing 微调</a:t>
                      </a:r>
                    </a:p>
                  </a:txBody>
                  <a:tcPr marL="114300" marR="114300" marT="66675" marB="66675" anchor="ctr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B34432"/>
                          </a:solidFill>
                          <a:latin typeface="Heiti TC"/>
                          <a:ea typeface="Heiti TC"/>
                          <a:cs typeface="Heiti TC"/>
                        </a:rPr>
                        <a:t>0/200</a:t>
                      </a:r>
                    </a:p>
                  </a:txBody>
                  <a:tcPr marL="114300" marR="114300" marT="66675" marB="66675" anchor="ctr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B34432"/>
                          </a:solidFill>
                          <a:latin typeface="Heiti TC"/>
                          <a:ea typeface="Heiti TC"/>
                          <a:cs typeface="Heiti TC"/>
                        </a:rPr>
                        <a:t>0.0%</a:t>
                      </a:r>
                    </a:p>
                  </a:txBody>
                  <a:tcPr marL="114300" marR="114300" marT="66675" marB="66675" anchor="ctr">
                    <a:solidFill>
                      <a:srgbClr val="E8F3F3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ECO65＋ZhiXing 原始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3/200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1.5%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ECO65＋Panda 原始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132/200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66.0%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Panda 原始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151/200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C40"/>
                          </a:solidFill>
                          <a:latin typeface="Heiti TC"/>
                          <a:ea typeface="Heiti TC"/>
                          <a:cs typeface="Heiti TC"/>
                        </a:rPr>
                        <a:t>75.5%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current-status">
            <a:extLst xmlns:a="http://schemas.openxmlformats.org/drawingml/2006/main">
              <a:ext uri="{FF2B5EF4-FFF2-40B4-BE49-F238E27FC236}">
                <a16:creationId xmlns:a16="http://schemas.microsoft.com/office/drawing/2014/main" id="{8F6465FA-F3E3-4E6A-80E1-D8262B46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724525"/>
            <a:ext cx="5600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873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96873"/>
                </a:solidFill>
                <a:latin typeface="Heiti TC"/>
                <a:ea typeface="Heiti TC"/>
                <a:cs typeface="Heiti TC"/>
              </a:rPr>
              <a:t>训练与权重重载已完成，策略效果未达标。</a:t>
            </a:r>
          </a:p>
          <a:p xmlns:a="http://schemas.openxmlformats.org/drawingml/2006/main">
            <a:pPr>
              <a:defRPr sz="1800" b="0">
                <a:solidFill>
                  <a:srgbClr val="596873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96873"/>
                </a:solidFill>
                <a:latin typeface="Heiti TC"/>
                <a:ea typeface="Heiti TC"/>
                <a:cs typeface="Heiti TC"/>
              </a:rPr>
              <a:t>有效初态 0/175，教师最快需 528 步。</a:t>
            </a:r>
          </a:p>
          <a:p xmlns:a="http://schemas.openxmlformats.org/drawingml/2006/main">
            <a:pPr>
              <a:defRPr sz="1800" b="0">
                <a:solidFill>
                  <a:srgbClr val="596873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96873"/>
                </a:solidFill>
                <a:latin typeface="Heiti TC"/>
                <a:ea typeface="Heiti TC"/>
                <a:cs typeface="Heiti TC"/>
              </a:rPr>
              <a:t>损失下降尚未转化为闭环成功，适配未验收。</a:t>
            </a:r>
          </a:p>
        </p:txBody>
      </p:sp>
      <p:sp>
        <p:nvSpPr>
          <p:cNvPr id="20" name="page">
            <a:extLst xmlns:a="http://schemas.openxmlformats.org/drawingml/2006/main">
              <a:ext uri="{FF2B5EF4-FFF2-40B4-BE49-F238E27FC236}">
                <a16:creationId xmlns:a16="http://schemas.microsoft.com/office/drawing/2014/main" id="{F13F0C9F-503A-4B08-91AC-DD0CB0C6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81775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596873"/>
                </a:solidFill>
                <a:latin typeface="Heiti TC"/>
                <a:ea typeface="Heiti TC"/>
                <a:cs typeface="Heiti TC"/>
              </a:defRPr>
            </a:pPr>
            <a:r>
              <a:rPr sz="1400" b="0">
                <a:solidFill>
                  <a:srgbClr val="596873"/>
                </a:solidFill>
                <a:latin typeface="Heiti TC"/>
                <a:ea typeface="Heiti TC"/>
                <a:cs typeface="Heiti TC"/>
              </a:rPr>
              <a:t>2 / 2</a:t>
            </a:r>
          </a:p>
        </p:txBody>
      </p:sp>
    </p:spTree>
    <p:extLst>
      <p:ext uri="{BB962C8B-B14F-4D97-AF65-F5344CB8AC3E}">
        <p14:creationId xmlns:p14="http://schemas.microsoft.com/office/powerpoint/2010/main" val="3806288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2026-10-08T12:17:06.4620000Z</dcterms:created>
  <dcterms:modified xsi:type="dcterms:W3CDTF">2026-10-08T12:17:06.4620000Z</dcterms:modified>
</coreProperties>
</file>