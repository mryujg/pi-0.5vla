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be7e565a6944f3" /><Relationship Type="http://schemas.openxmlformats.org/officeDocument/2006/relationships/extended-properties" Target="/docProps/app.xml" Id="Re602fd8183444b84" /><Relationship Type="http://schemas.openxmlformats.org/officeDocument/2006/relationships/officeDocument" Target="/ppt/presentation.xml" Id="R39ba5cc0229e45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d628b0f49f4ddf"/>
  </p:sldMasterIdLst>
  <p:notesMasterIdLst>
    <p:notesMasterId xmlns:r="http://schemas.openxmlformats.org/officeDocument/2006/relationships" r:id="R307f290e59694b0e"/>
  </p:notesMasterIdLst>
  <p:sldIdLst>
    <p:sldId xmlns:r="http://schemas.openxmlformats.org/officeDocument/2006/relationships" id="256" r:id="R0041ea8340a44d8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37cc8e47ba48df" /><Relationship Type="http://schemas.openxmlformats.org/officeDocument/2006/relationships/slideMaster" Target="/ppt/slideMasters/slideMaster1.xml" Id="R66d628b0f49f4ddf" /><Relationship Type="http://schemas.openxmlformats.org/officeDocument/2006/relationships/notesMaster" Target="/ppt/notesMasters/notesMaster1.xml" Id="R307f290e59694b0e" /><Relationship Type="http://schemas.openxmlformats.org/officeDocument/2006/relationships/presProps" Target="/ppt/presProps.xml" Id="Rddf093c0bc764c41" /><Relationship Type="http://schemas.openxmlformats.org/officeDocument/2006/relationships/tableStyles" Target="/ppt/tableStyles.xml" Id="Ra4ae160c18264bd9" /><Relationship Type="http://schemas.openxmlformats.org/officeDocument/2006/relationships/slide" Target="/ppt/slides/slide1.xml" Id="R0041ea8340a44d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6a0936a74e4a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91178aa22b4a8a" /><Relationship Type="http://schemas.openxmlformats.org/officeDocument/2006/relationships/notesMaster" Target="/ppt/notesMasters/notesMaster1.xml" Id="R81f87832f7b445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实现依据：</a:t>
            </a:r>
          </a:p>
          <a:p xmlns:a="http://schemas.openxmlformats.org/drawingml/2006/main">
            <a:r>
              <a:t>/mnt/data/vla-policy/openpi/gpt-rpent-control/当前版本与文件索引_20261007_r4.md</a:t>
            </a:r>
          </a:p>
          <a:p xmlns:a="http://schemas.openxmlformats.org/drawingml/2006/main">
            <a:r>
              <a:t>/mnt/data/vla-policy/openpi/gpt-rpent-control/versions/eco65_zhixing_20261007_r5/run_episode.py</a:t>
            </a:r>
          </a:p>
          <a:p xmlns:a="http://schemas.openxmlformats.org/drawingml/2006/main">
            <a:r>
              <a:t>/mnt/data/vla-policy/openpi/gpt-rpent-control/versions/eco65_zhixing_20261007_r5/vla_bridge.py</a:t>
            </a:r>
          </a:p>
          <a:p xmlns:a="http://schemas.openxmlformats.org/drawingml/2006/main">
            <a:r>
              <a:t>/mnt/data/vla-policy/openpi/gpt-rpent-control/versions/eco65_zhixing_20261007_r5/env_server.py</a:t>
            </a:r>
          </a:p>
          <a:p xmlns:a="http://schemas.openxmlformats.org/drawingml/2006/main">
            <a:r>
              <a:t>/mnt/data/vla-policy/openpi/gpt-rpent-control/ECO65_ZhiXing部署配置复验与视频_20261007_r2.md</a:t>
            </a:r>
          </a:p>
          <a:p xmlns:a="http://schemas.openxmlformats.org/drawingml/2006/main">
            <a:r>
              <a:t>RPent commit: 068cd64f4f175179a13c67d429a4d00ca56fb196</a:t>
            </a:r>
          </a:p>
          <a:p xmlns:a="http://schemas.openxmlformats.org/drawingml/2006/main">
            <a:r>
              <a:t>上层实际模型 deepseek-flash，ApiAgentLoop no_images=True。当前完整任务重复调用 pi0_doubled，尚未证明自主分解或恢复的额外增益。</a:t>
            </a:r>
          </a:p>
          <a:p xmlns:a="http://schemas.openxmlformats.org/drawingml/2006/main">
            <a:r>
              <a:t>VLA 输入主相机与腕相机 RGB、8维state、任务文本。原256×256图像旋转180°，pad resize至224×224。原精度 original_torch，10次去噪，预测10×7，桥接返回前5步。</a:t>
            </a:r>
          </a:p>
          <a:p xmlns:a="http://schemas.openxmlformats.org/drawingml/2006/main">
            <a:r>
              <a:t>state姿态使用原LIBERO robot0_eef_quat轴角，夹爪选Left_1_Joint和Right_1_Joint。采集链路姿态采用grip_site，完整state等价性尚未验收。</a:t>
            </a:r>
          </a:p>
          <a:p xmlns:a="http://schemas.openxmlformats.org/drawingml/2006/main">
            <a:r>
              <a:t>动作7维为末端平移增量3、旋转增量3、夹爪1。ZhiXing动作+1闭合/-1张开，内部负向累计，默认速度0.01。</a:t>
            </a:r>
          </a:p>
          <a:p xmlns:a="http://schemas.openxmlformats.org/drawingml/2006/main">
            <a:r>
              <a:t>已有eco65_no_extra_pd profile在首个策略动作前切换，初始化/静置仍为legacy，OSC尺度和增益未改。</a:t>
            </a:r>
          </a:p>
          <a:p xmlns:a="http://schemas.openxmlformats.org/drawingml/2006/main">
            <a:r>
              <a:t>仿真控制间隔50ms，等待推理时仿真暂停，不证明墙钟实时20Hz。原生成功标志或220步预算终止。</a:t>
            </a:r>
          </a:p>
          <a:p xmlns:a="http://schemas.openxmlformats.org/drawingml/2006/main">
            <a:r>
              <a:t>双视角视频512×256、20FPS，RPent主视角视频256×256、20FPS，均保留全过程。</a:t>
            </a:r>
          </a:p>
          <a:p xmlns:a="http://schemas.openxmlformats.org/drawingml/2006/main">
            <a:r>
              <a:t>独立脚本专家采集已有实现，本次原模型闭环没有加载微调权重或使用脚本教师。</a:t>
            </a:r>
          </a:p>
          <a:p xmlns:a="http://schemas.openxmlformats.org/drawingml/2006/main">
            <a:r>
              <a:t>部署批Spatial10×1为0/10，文件冻结和链路接通不代表高成功率适配或实机验收。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944cf9e22745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5ea81d57314282" /><Relationship Type="http://schemas.openxmlformats.org/officeDocument/2006/relationships/slideLayout" Target="/ppt/slideLayouts/slideLayout1.xml" Id="Rebbf2917578947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bf2917578947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b4e4fb46c49e1" /><Relationship Type="http://schemas.openxmlformats.org/officeDocument/2006/relationships/notesSlide" Target="/ppt/notesSlides/notesSlide1.xml" Id="R7f8039ccb4894f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title">
            <a:extLst xmlns:a="http://schemas.openxmlformats.org/drawingml/2006/main">
              <a:ext uri="{FF2B5EF4-FFF2-40B4-BE49-F238E27FC236}">
                <a16:creationId xmlns:a16="http://schemas.microsoft.com/office/drawing/2014/main" id="{41D3C6CF-5112-4B7C-BBDF-5E8DD3EB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2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E42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72E42"/>
                </a:solidFill>
                <a:latin typeface="PingFang SC"/>
                <a:ea typeface="PingFang SC"/>
                <a:cs typeface="PingFang SC"/>
              </a:rPr>
              <a:t>大模型与 π0.5 的 ECO65 闭环控制架构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CA9B10E-134E-46D1-A643-356133BC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4425"/>
            <a:ext cx="1402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86B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86B7A"/>
                </a:solidFill>
                <a:latin typeface="PingFang SC"/>
                <a:ea typeface="PingFang SC"/>
                <a:cs typeface="PingFang SC"/>
              </a:rPr>
              <a:t>DeepSeek 文本工具规划与原生视觉动作策略</a:t>
            </a:r>
          </a:p>
        </p:txBody>
      </p:sp>
      <p:sp>
        <p:nvSpPr>
          <p:cNvPr id="3" name="user-task">
            <a:extLst xmlns:a="http://schemas.openxmlformats.org/drawingml/2006/main">
              <a:ext uri="{FF2B5EF4-FFF2-40B4-BE49-F238E27FC236}">
                <a16:creationId xmlns:a16="http://schemas.microsoft.com/office/drawing/2014/main" id="{83C2C15B-1BB3-48A5-9A54-F770D066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276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15240">
            <a:solidFill>
              <a:srgbClr val="AEBBC5"/>
            </a:solidFill>
            <a:prstDash val="solid"/>
          </a:ln>
        </p:spPr>
      </p:sp>
      <p:sp>
        <p:nvSpPr>
          <p:cNvPr id="4" name="task-text">
            <a:extLst xmlns:a="http://schemas.openxmlformats.org/drawingml/2006/main">
              <a:ext uri="{FF2B5EF4-FFF2-40B4-BE49-F238E27FC236}">
                <a16:creationId xmlns:a16="http://schemas.microsoft.com/office/drawing/2014/main" id="{A1D31B98-B7E8-4A61-BDC4-E39402B2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72E42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72E42"/>
                </a:solidFill>
                <a:latin typeface="PingFang SC"/>
                <a:ea typeface="PingFang SC"/>
                <a:cs typeface="PingFang SC"/>
              </a:rPr>
              <a:t>自然语言任务</a:t>
            </a:r>
          </a:p>
        </p:txBody>
      </p:sp>
      <p:sp>
        <p:nvSpPr>
          <p:cNvPr id="5" name="planner-stage">
            <a:extLst xmlns:a="http://schemas.openxmlformats.org/drawingml/2006/main">
              <a:ext uri="{FF2B5EF4-FFF2-40B4-BE49-F238E27FC236}">
                <a16:creationId xmlns:a16="http://schemas.microsoft.com/office/drawing/2014/main" id="{05884FE2-811C-4AC2-ABCC-FBBA4F6B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27622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C"/>
          </a:solidFill>
          <a:ln xmlns:a="http://schemas.openxmlformats.org/drawingml/2006/main" w="15240">
            <a:solidFill>
              <a:srgbClr val="6650A4"/>
            </a:solidFill>
            <a:prstDash val="solid"/>
          </a:ln>
        </p:spPr>
      </p:sp>
      <p:sp>
        <p:nvSpPr>
          <p:cNvPr id="6" name="policy-stage">
            <a:extLst xmlns:a="http://schemas.openxmlformats.org/drawingml/2006/main">
              <a:ext uri="{FF2B5EF4-FFF2-40B4-BE49-F238E27FC236}">
                <a16:creationId xmlns:a16="http://schemas.microsoft.com/office/drawing/2014/main" id="{7C825B44-D286-46B0-AC63-B816B42C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924175"/>
            <a:ext cx="31432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C"/>
          </a:solidFill>
          <a:ln xmlns:a="http://schemas.openxmlformats.org/drawingml/2006/main" w="15240">
            <a:solidFill>
              <a:srgbClr val="176B9F"/>
            </a:solidFill>
            <a:prstDash val="solid"/>
          </a:ln>
        </p:spPr>
      </p:sp>
      <p:sp>
        <p:nvSpPr>
          <p:cNvPr id="7" name="control-stage">
            <a:extLst xmlns:a="http://schemas.openxmlformats.org/drawingml/2006/main">
              <a:ext uri="{FF2B5EF4-FFF2-40B4-BE49-F238E27FC236}">
                <a16:creationId xmlns:a16="http://schemas.microsoft.com/office/drawing/2014/main" id="{2928F782-5DF7-456A-B77E-4F84B132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24175"/>
            <a:ext cx="26860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7"/>
          </a:solidFill>
          <a:ln xmlns:a="http://schemas.openxmlformats.org/drawingml/2006/main" w="15240">
            <a:solidFill>
              <a:srgbClr val="187D79"/>
            </a:solidFill>
            <a:prstDash val="solid"/>
          </a:ln>
        </p:spPr>
      </p:sp>
      <p:sp>
        <p:nvSpPr>
          <p:cNvPr id="8" name="robot-stage">
            <a:extLst xmlns:a="http://schemas.openxmlformats.org/drawingml/2006/main">
              <a:ext uri="{FF2B5EF4-FFF2-40B4-BE49-F238E27FC236}">
                <a16:creationId xmlns:a16="http://schemas.microsoft.com/office/drawing/2014/main" id="{A5D8F004-D2E2-4555-853D-EF068ECC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2924175"/>
            <a:ext cx="2657475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F"/>
          </a:solidFill>
          <a:ln xmlns:a="http://schemas.openxmlformats.org/drawingml/2006/main" w="15240">
            <a:solidFill>
              <a:srgbClr val="A46423"/>
            </a:solidFill>
            <a:prstDash val="solid"/>
          </a:ln>
        </p:spPr>
      </p:sp>
      <p:sp>
        <p:nvSpPr>
          <p:cNvPr id="9" name="planner-heading">
            <a:extLst xmlns:a="http://schemas.openxmlformats.org/drawingml/2006/main">
              <a:ext uri="{FF2B5EF4-FFF2-40B4-BE49-F238E27FC236}">
                <a16:creationId xmlns:a16="http://schemas.microsoft.com/office/drawing/2014/main" id="{DC0DBD0D-AA0C-4073-A120-000718E2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3372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650A4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6650A4"/>
                </a:solidFill>
                <a:latin typeface="PingFang SC"/>
                <a:ea typeface="PingFang SC"/>
                <a:cs typeface="PingFang SC"/>
              </a:rPr>
              <a:t>DeepSeek</a:t>
            </a:r>
          </a:p>
        </p:txBody>
      </p:sp>
      <p:sp>
        <p:nvSpPr>
          <p:cNvPr id="10" name="planner-role">
            <a:extLst xmlns:a="http://schemas.openxmlformats.org/drawingml/2006/main">
              <a:ext uri="{FF2B5EF4-FFF2-40B4-BE49-F238E27FC236}">
                <a16:creationId xmlns:a16="http://schemas.microsoft.com/office/drawing/2014/main" id="{23875722-E32F-473E-88C9-35A75D69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099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E4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72E42"/>
                </a:solidFill>
                <a:latin typeface="PingFang SC"/>
                <a:ea typeface="PingFang SC"/>
                <a:cs typeface="PingFang SC"/>
              </a:rPr>
              <a:t>文本规划与工具调用</a:t>
            </a:r>
          </a:p>
        </p:txBody>
      </p:sp>
      <p:sp>
        <p:nvSpPr>
          <p:cNvPr id="11" name="planner-rule">
            <a:extLst xmlns:a="http://schemas.openxmlformats.org/drawingml/2006/main">
              <a:ext uri="{FF2B5EF4-FFF2-40B4-BE49-F238E27FC236}">
                <a16:creationId xmlns:a16="http://schemas.microsoft.com/office/drawing/2014/main" id="{37C3E94D-6392-4DD4-9AD5-9E128338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48125"/>
            <a:ext cx="2352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CDE9"/>
            </a:solidFill>
            <a:prstDash val="solid"/>
          </a:ln>
        </p:spPr>
      </p:sp>
      <p:sp>
        <p:nvSpPr>
          <p:cNvPr id="12" name="planner-api">
            <a:extLst xmlns:a="http://schemas.openxmlformats.org/drawingml/2006/main">
              <a:ext uri="{FF2B5EF4-FFF2-40B4-BE49-F238E27FC236}">
                <a16:creationId xmlns:a16="http://schemas.microsoft.com/office/drawing/2014/main" id="{2B005845-A8C6-4463-8C26-CA49A66E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719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E4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72E42"/>
                </a:solidFill>
                <a:latin typeface="PingFang SC"/>
                <a:ea typeface="PingFang SC"/>
                <a:cs typeface="PingFang SC"/>
              </a:rPr>
              <a:t>RPent ApiAgentLoop</a:t>
            </a:r>
          </a:p>
        </p:txBody>
      </p:sp>
      <p:sp>
        <p:nvSpPr>
          <p:cNvPr id="13" name="planner-toolkit">
            <a:extLst xmlns:a="http://schemas.openxmlformats.org/drawingml/2006/main">
              <a:ext uri="{FF2B5EF4-FFF2-40B4-BE49-F238E27FC236}">
                <a16:creationId xmlns:a16="http://schemas.microsoft.com/office/drawing/2014/main" id="{0FE2BAEF-37D9-495E-A721-882C3211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624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E4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72E42"/>
                </a:solidFill>
                <a:latin typeface="PingFang SC"/>
                <a:ea typeface="PingFang SC"/>
                <a:cs typeface="PingFang SC"/>
              </a:rPr>
              <a:t>LiberoToolkit</a:t>
            </a:r>
          </a:p>
        </p:txBody>
      </p:sp>
      <p:sp>
        <p:nvSpPr>
          <p:cNvPr id="14" name="planner-active-tool">
            <a:extLst xmlns:a="http://schemas.openxmlformats.org/drawingml/2006/main">
              <a:ext uri="{FF2B5EF4-FFF2-40B4-BE49-F238E27FC236}">
                <a16:creationId xmlns:a16="http://schemas.microsoft.com/office/drawing/2014/main" id="{D31DCE2B-DA62-4696-AFC6-E81256AC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434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E4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72E42"/>
                </a:solidFill>
                <a:latin typeface="PingFang SC"/>
                <a:ea typeface="PingFang SC"/>
                <a:cs typeface="PingFang SC"/>
              </a:rPr>
              <a:t>pi0_doubled</a:t>
            </a:r>
          </a:p>
        </p:txBody>
      </p:sp>
      <p:sp>
        <p:nvSpPr>
          <p:cNvPr id="15" name="policy-heading">
            <a:extLst xmlns:a="http://schemas.openxmlformats.org/drawingml/2006/main">
              <a:ext uri="{FF2B5EF4-FFF2-40B4-BE49-F238E27FC236}">
                <a16:creationId xmlns:a16="http://schemas.microsoft.com/office/drawing/2014/main" id="{08B3352E-B854-4567-8266-482D9CA2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33725"/>
            <a:ext cx="2705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B9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6B9F"/>
                </a:solidFill>
                <a:latin typeface="PingFang SC"/>
                <a:ea typeface="PingFang SC"/>
                <a:cs typeface="PingFang SC"/>
              </a:rPr>
              <a:t>π0.5 VLA</a:t>
            </a:r>
          </a:p>
        </p:txBody>
      </p:sp>
      <p:sp>
        <p:nvSpPr>
          <p:cNvPr id="16" name="policy-client">
            <a:extLst xmlns:a="http://schemas.openxmlformats.org/drawingml/2006/main">
              <a:ext uri="{FF2B5EF4-FFF2-40B4-BE49-F238E27FC236}">
                <a16:creationId xmlns:a16="http://schemas.microsoft.com/office/drawing/2014/main" id="{DBA077FF-19BC-44E3-AF88-F97C761D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09975"/>
            <a:ext cx="2705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E4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72E42"/>
                </a:solidFill>
                <a:latin typeface="PingFang SC"/>
                <a:ea typeface="PingFang SC"/>
                <a:cs typeface="PingFang SC"/>
              </a:rPr>
              <a:t>Pi05VLAClient / VLA RPC</a:t>
            </a:r>
          </a:p>
        </p:txBody>
      </p:sp>
      <p:sp>
        <p:nvSpPr>
          <p:cNvPr id="17" name="policy-rule">
            <a:extLst xmlns:a="http://schemas.openxmlformats.org/drawingml/2006/main">
              <a:ext uri="{FF2B5EF4-FFF2-40B4-BE49-F238E27FC236}">
                <a16:creationId xmlns:a16="http://schemas.microsoft.com/office/drawing/2014/main" id="{B3F28097-EE28-4714-89CD-589212A4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48125"/>
            <a:ext cx="270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DEB"/>
            </a:solidFill>
            <a:prstDash val="solid"/>
          </a:ln>
        </p:spPr>
      </p:sp>
      <p:sp>
        <p:nvSpPr>
          <p:cNvPr id="18" name="policy-backend">
            <a:extLst xmlns:a="http://schemas.openxmlformats.org/drawingml/2006/main">
              <a:ext uri="{FF2B5EF4-FFF2-40B4-BE49-F238E27FC236}">
                <a16:creationId xmlns:a16="http://schemas.microsoft.com/office/drawing/2014/main" id="{69F1152D-CE81-4772-8B3D-0E3F1FA9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E4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72E42"/>
                </a:solidFill>
                <a:latin typeface="PingFang SC"/>
                <a:ea typeface="PingFang SC"/>
                <a:cs typeface="PingFang SC"/>
              </a:rPr>
              <a:t>原精度 PyTorch 服务</a:t>
            </a:r>
          </a:p>
        </p:txBody>
      </p:sp>
      <p:sp>
        <p:nvSpPr>
          <p:cNvPr id="19" name="policy-denoising">
            <a:extLst xmlns:a="http://schemas.openxmlformats.org/drawingml/2006/main">
              <a:ext uri="{FF2B5EF4-FFF2-40B4-BE49-F238E27FC236}">
                <a16:creationId xmlns:a16="http://schemas.microsoft.com/office/drawing/2014/main" id="{397872E5-8EBE-48EC-990D-404ACC41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62475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E4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72E42"/>
                </a:solidFill>
                <a:latin typeface="PingFang SC"/>
                <a:ea typeface="PingFang SC"/>
                <a:cs typeface="PingFang SC"/>
              </a:rPr>
              <a:t>10 次去噪迭代</a:t>
            </a:r>
          </a:p>
        </p:txBody>
      </p:sp>
      <p:sp>
        <p:nvSpPr>
          <p:cNvPr id="20" name="policy-chunk">
            <a:extLst xmlns:a="http://schemas.openxmlformats.org/drawingml/2006/main">
              <a:ext uri="{FF2B5EF4-FFF2-40B4-BE49-F238E27FC236}">
                <a16:creationId xmlns:a16="http://schemas.microsoft.com/office/drawing/2014/main" id="{84224475-4009-4DD7-AAD6-C5037CD0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43475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E4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72E42"/>
                </a:solidFill>
                <a:latin typeface="PingFang SC"/>
                <a:ea typeface="PingFang SC"/>
                <a:cs typeface="PingFang SC"/>
              </a:rPr>
              <a:t>输出 10 × 7 动作块</a:t>
            </a:r>
          </a:p>
        </p:txBody>
      </p:sp>
      <p:sp>
        <p:nvSpPr>
          <p:cNvPr id="21" name="control-heading">
            <a:extLst xmlns:a="http://schemas.openxmlformats.org/drawingml/2006/main">
              <a:ext uri="{FF2B5EF4-FFF2-40B4-BE49-F238E27FC236}">
                <a16:creationId xmlns:a16="http://schemas.microsoft.com/office/drawing/2014/main" id="{BB86F42E-841F-4A80-870E-AFC1AE83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133725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7D79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87D79"/>
                </a:solidFill>
                <a:latin typeface="PingFang SC"/>
                <a:ea typeface="PingFang SC"/>
                <a:cs typeface="PingFang SC"/>
              </a:rPr>
              <a:t>环境 RPC 与控制</a:t>
            </a:r>
          </a:p>
        </p:txBody>
      </p:sp>
      <p:sp>
        <p:nvSpPr>
          <p:cNvPr id="22" name="control-rpc">
            <a:extLst xmlns:a="http://schemas.openxmlformats.org/drawingml/2006/main">
              <a:ext uri="{FF2B5EF4-FFF2-40B4-BE49-F238E27FC236}">
                <a16:creationId xmlns:a16="http://schemas.microsoft.com/office/drawing/2014/main" id="{BBB9A283-DBDE-4789-9FA5-52975FC3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609975"/>
            <a:ext cx="2438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10" b="0">
                <a:solidFill>
                  <a:srgbClr val="172E42"/>
                </a:solidFill>
                <a:latin typeface="PingFang SC"/>
                <a:ea typeface="PingFang SC"/>
                <a:cs typeface="PingFang SC"/>
              </a:defRPr>
            </a:pPr>
            <a:r>
              <a:rPr sz="1710" b="0">
                <a:solidFill>
                  <a:srgbClr val="172E42"/>
                </a:solidFill>
                <a:latin typeface="PingFang SC"/>
                <a:ea typeface="PingFang SC"/>
                <a:cs typeface="PingFang SC"/>
              </a:rPr>
              <a:t>LiberoEnvClient</a:t>
            </a:r>
          </a:p>
        </p:txBody>
      </p:sp>
      <p:sp>
        <p:nvSpPr>
          <p:cNvPr id="23" name="control-rule">
            <a:extLst xmlns:a="http://schemas.openxmlformats.org/drawingml/2006/main">
              <a:ext uri="{FF2B5EF4-FFF2-40B4-BE49-F238E27FC236}">
                <a16:creationId xmlns:a16="http://schemas.microsoft.com/office/drawing/2014/main" id="{FC1400B3-4D95-4FBB-BEB3-8FC78271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048125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6DED8"/>
            </a:solidFill>
            <a:prstDash val="solid"/>
          </a:ln>
        </p:spPr>
      </p:sp>
      <p:sp>
        <p:nvSpPr>
          <p:cNvPr id="24" name="control-osc">
            <a:extLst xmlns:a="http://schemas.openxmlformats.org/drawingml/2006/main">
              <a:ext uri="{FF2B5EF4-FFF2-40B4-BE49-F238E27FC236}">
                <a16:creationId xmlns:a16="http://schemas.microsoft.com/office/drawing/2014/main" id="{424AE76B-5852-4F79-BA5F-68D48F40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1719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E42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72E42"/>
                </a:solidFill>
                <a:latin typeface="PingFang SC"/>
                <a:ea typeface="PingFang SC"/>
                <a:cs typeface="PingFang SC"/>
              </a:rPr>
              <a:t>OSC_POSE</a:t>
            </a:r>
          </a:p>
        </p:txBody>
      </p:sp>
      <p:sp>
        <p:nvSpPr>
          <p:cNvPr id="25" name="control-action">
            <a:extLst xmlns:a="http://schemas.openxmlformats.org/drawingml/2006/main">
              <a:ext uri="{FF2B5EF4-FFF2-40B4-BE49-F238E27FC236}">
                <a16:creationId xmlns:a16="http://schemas.microsoft.com/office/drawing/2014/main" id="{2DCA2EFC-9995-4F89-819D-D9B8B8A2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5624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63" b="0">
                <a:solidFill>
                  <a:srgbClr val="172E42"/>
                </a:solidFill>
                <a:latin typeface="PingFang SC"/>
                <a:ea typeface="PingFang SC"/>
                <a:cs typeface="PingFang SC"/>
              </a:defRPr>
            </a:pPr>
            <a:r>
              <a:rPr sz="1763" b="0">
                <a:solidFill>
                  <a:srgbClr val="172E42"/>
                </a:solidFill>
                <a:latin typeface="PingFang SC"/>
                <a:ea typeface="PingFang SC"/>
                <a:cs typeface="PingFang SC"/>
              </a:rPr>
              <a:t>末端位姿增量 + 夹爪</a:t>
            </a:r>
          </a:p>
        </p:txBody>
      </p:sp>
      <p:sp>
        <p:nvSpPr>
          <p:cNvPr id="26" name="control-clip">
            <a:extLst xmlns:a="http://schemas.openxmlformats.org/drawingml/2006/main">
              <a:ext uri="{FF2B5EF4-FFF2-40B4-BE49-F238E27FC236}">
                <a16:creationId xmlns:a16="http://schemas.microsoft.com/office/drawing/2014/main" id="{7859348A-E911-4B79-8084-C9F53515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9434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63" b="0">
                <a:solidFill>
                  <a:srgbClr val="172E42"/>
                </a:solidFill>
                <a:latin typeface="PingFang SC"/>
                <a:ea typeface="PingFang SC"/>
                <a:cs typeface="PingFang SC"/>
              </a:defRPr>
            </a:pPr>
            <a:r>
              <a:rPr sz="1763" b="0">
                <a:solidFill>
                  <a:srgbClr val="172E42"/>
                </a:solidFill>
                <a:latin typeface="PingFang SC"/>
                <a:ea typeface="PingFang SC"/>
                <a:cs typeface="PingFang SC"/>
              </a:rPr>
              <a:t>7 维动作限幅 [−1, 1]</a:t>
            </a:r>
          </a:p>
        </p:txBody>
      </p:sp>
      <p:sp>
        <p:nvSpPr>
          <p:cNvPr id="27" name="robot-heading">
            <a:extLst xmlns:a="http://schemas.openxmlformats.org/drawingml/2006/main">
              <a:ext uri="{FF2B5EF4-FFF2-40B4-BE49-F238E27FC236}">
                <a16:creationId xmlns:a16="http://schemas.microsoft.com/office/drawing/2014/main" id="{C4B2A309-6C9C-4CBB-975D-7118B90B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3133725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1">
                <a:solidFill>
                  <a:srgbClr val="A46423"/>
                </a:solidFill>
                <a:latin typeface="PingFang SC"/>
                <a:ea typeface="PingFang SC"/>
                <a:cs typeface="PingFang SC"/>
              </a:defRPr>
            </a:pPr>
            <a:r>
              <a:rPr sz="2063" b="1">
                <a:solidFill>
                  <a:srgbClr val="A46423"/>
                </a:solidFill>
                <a:latin typeface="PingFang SC"/>
                <a:ea typeface="PingFang SC"/>
                <a:cs typeface="PingFang SC"/>
              </a:rPr>
              <a:t>ECO65 + ZhiXing</a:t>
            </a:r>
          </a:p>
        </p:txBody>
      </p:sp>
      <p:sp>
        <p:nvSpPr>
          <p:cNvPr id="28" name="robot-runtime">
            <a:extLst xmlns:a="http://schemas.openxmlformats.org/drawingml/2006/main">
              <a:ext uri="{FF2B5EF4-FFF2-40B4-BE49-F238E27FC236}">
                <a16:creationId xmlns:a16="http://schemas.microsoft.com/office/drawing/2014/main" id="{27BE0AFA-81D9-4524-BE6D-A91186A2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360997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E4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72E42"/>
                </a:solidFill>
                <a:latin typeface="PingFang SC"/>
                <a:ea typeface="PingFang SC"/>
                <a:cs typeface="PingFang SC"/>
              </a:rPr>
              <a:t>LIBERO / MuJoCo</a:t>
            </a:r>
          </a:p>
        </p:txBody>
      </p:sp>
      <p:sp>
        <p:nvSpPr>
          <p:cNvPr id="29" name="robot-rule">
            <a:extLst xmlns:a="http://schemas.openxmlformats.org/drawingml/2006/main">
              <a:ext uri="{FF2B5EF4-FFF2-40B4-BE49-F238E27FC236}">
                <a16:creationId xmlns:a16="http://schemas.microsoft.com/office/drawing/2014/main" id="{EAEB6A0B-1A09-4BB8-A9C1-B443224A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4048125"/>
            <a:ext cx="2257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8D7BF"/>
            </a:solidFill>
            <a:prstDash val="solid"/>
          </a:ln>
        </p:spPr>
      </p:sp>
      <p:sp>
        <p:nvSpPr>
          <p:cNvPr id="30" name="robot-camera">
            <a:extLst xmlns:a="http://schemas.openxmlformats.org/drawingml/2006/main">
              <a:ext uri="{FF2B5EF4-FFF2-40B4-BE49-F238E27FC236}">
                <a16:creationId xmlns:a16="http://schemas.microsoft.com/office/drawing/2014/main" id="{EE19F12A-6435-4D5A-9D14-26C8ECCC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41719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E4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72E42"/>
                </a:solidFill>
                <a:latin typeface="PingFang SC"/>
                <a:ea typeface="PingFang SC"/>
                <a:cs typeface="PingFang SC"/>
              </a:rPr>
              <a:t>主相机 + 腕部相机</a:t>
            </a:r>
          </a:p>
        </p:txBody>
      </p:sp>
      <p:sp>
        <p:nvSpPr>
          <p:cNvPr id="31" name="robot-proprio">
            <a:extLst xmlns:a="http://schemas.openxmlformats.org/drawingml/2006/main">
              <a:ext uri="{FF2B5EF4-FFF2-40B4-BE49-F238E27FC236}">
                <a16:creationId xmlns:a16="http://schemas.microsoft.com/office/drawing/2014/main" id="{5B51D02D-0E61-4178-8BA9-BDA0A770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45624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E4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72E42"/>
                </a:solidFill>
                <a:latin typeface="PingFang SC"/>
                <a:ea typeface="PingFang SC"/>
                <a:cs typeface="PingFang SC"/>
              </a:rPr>
              <a:t>末端与夹爪状态</a:t>
            </a:r>
          </a:p>
        </p:txBody>
      </p:sp>
      <p:sp>
        <p:nvSpPr>
          <p:cNvPr id="32" name="robot-gripper">
            <a:extLst xmlns:a="http://schemas.openxmlformats.org/drawingml/2006/main">
              <a:ext uri="{FF2B5EF4-FFF2-40B4-BE49-F238E27FC236}">
                <a16:creationId xmlns:a16="http://schemas.microsoft.com/office/drawing/2014/main" id="{089D481C-D4D2-4241-B8C8-57AE3C54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49434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E4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72E42"/>
                </a:solidFill>
                <a:latin typeface="PingFang SC"/>
                <a:ea typeface="PingFang SC"/>
                <a:cs typeface="PingFang SC"/>
              </a:rPr>
              <a:t>+1 闭合 / −1 张开</a:t>
            </a:r>
          </a:p>
        </p:txBody>
      </p:sp>
      <p:cxnSp>
        <p:nvCxnSpPr>
          <p:cNvPr id="96" name=""/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1990725" y="23717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650A4"/>
            </a:solidFill>
            <a:prstDash val="solid"/>
            <a:tailEnd type="triangle" w="med" len="med"/>
          </a:ln>
        </p:spPr>
      </p:cxnSp>
      <p:cxnSp>
        <p:nvCxnSpPr>
          <p:cNvPr id="9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371850" y="4191000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650A4"/>
            </a:solidFill>
            <a:prstDash val="solid"/>
            <a:tailEnd type="triangle" w="med" len="med"/>
          </a:ln>
        </p:spPr>
      </p:cxnSp>
      <p:cxnSp>
        <p:nvCxnSpPr>
          <p:cNvPr id="9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439025" y="4191000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76B9F"/>
            </a:solidFill>
            <a:prstDash val="solid"/>
            <a:tailEnd type="triangle" w="med" len="med"/>
          </a:ln>
        </p:spPr>
      </p:cxnSp>
      <p:cxnSp>
        <p:nvCxnSpPr>
          <p:cNvPr id="9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1049000" y="4191000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7D79"/>
            </a:solidFill>
            <a:prstDash val="solid"/>
            <a:tailEnd type="triangle" w="med" len="med"/>
          </a:ln>
        </p:spPr>
      </p:cxnSp>
      <p:sp>
        <p:nvSpPr>
          <p:cNvPr id="37" name="task-edge-label">
            <a:extLst xmlns:a="http://schemas.openxmlformats.org/drawingml/2006/main">
              <a:ext uri="{FF2B5EF4-FFF2-40B4-BE49-F238E27FC236}">
                <a16:creationId xmlns:a16="http://schemas.microsoft.com/office/drawing/2014/main" id="{E65D4E08-FB6D-4055-8CB8-4C4539E3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81375"/>
            <a:ext cx="80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650A4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50A4"/>
                </a:solidFill>
                <a:latin typeface="PingFang SC"/>
                <a:ea typeface="PingFang SC"/>
                <a:cs typeface="PingFang SC"/>
              </a:rPr>
              <a:t>任务</a:t>
            </a:r>
          </a:p>
          <a:p xmlns:a="http://schemas.openxmlformats.org/drawingml/2006/main">
            <a:pPr algn="ctr">
              <a:defRPr sz="1800" b="0">
                <a:solidFill>
                  <a:srgbClr val="6650A4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50A4"/>
                </a:solidFill>
                <a:latin typeface="PingFang SC"/>
                <a:ea typeface="PingFang SC"/>
                <a:cs typeface="PingFang SC"/>
              </a:rPr>
              <a:t>文本</a:t>
            </a:r>
          </a:p>
        </p:txBody>
      </p:sp>
      <p:sp>
        <p:nvSpPr>
          <p:cNvPr id="38" name="action-edge-label">
            <a:extLst xmlns:a="http://schemas.openxmlformats.org/drawingml/2006/main">
              <a:ext uri="{FF2B5EF4-FFF2-40B4-BE49-F238E27FC236}">
                <a16:creationId xmlns:a16="http://schemas.microsoft.com/office/drawing/2014/main" id="{10F00A73-3DF9-4B0B-8041-BC48584D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381375"/>
            <a:ext cx="8477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6B9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76B9F"/>
                </a:solidFill>
                <a:latin typeface="PingFang SC"/>
                <a:ea typeface="PingFang SC"/>
                <a:cs typeface="PingFang SC"/>
              </a:rPr>
              <a:t>前 5 步</a:t>
            </a:r>
          </a:p>
          <a:p xmlns:a="http://schemas.openxmlformats.org/drawingml/2006/main">
            <a:pPr algn="ctr">
              <a:defRPr sz="1800" b="0">
                <a:solidFill>
                  <a:srgbClr val="176B9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76B9F"/>
                </a:solidFill>
                <a:latin typeface="PingFang SC"/>
                <a:ea typeface="PingFang SC"/>
                <a:cs typeface="PingFang SC"/>
              </a:rPr>
              <a:t>动作</a:t>
            </a:r>
          </a:p>
        </p:txBody>
      </p:sp>
      <p:sp>
        <p:nvSpPr>
          <p:cNvPr id="39" name="actuation-edge-label">
            <a:extLst xmlns:a="http://schemas.openxmlformats.org/drawingml/2006/main">
              <a:ext uri="{FF2B5EF4-FFF2-40B4-BE49-F238E27FC236}">
                <a16:creationId xmlns:a16="http://schemas.microsoft.com/office/drawing/2014/main" id="{330DB9DE-8B9A-49EF-AD2E-568F8D65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381375"/>
            <a:ext cx="828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7D79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87D79"/>
                </a:solidFill>
                <a:latin typeface="PingFang SC"/>
                <a:ea typeface="PingFang SC"/>
                <a:cs typeface="PingFang SC"/>
              </a:rPr>
              <a:t>控制</a:t>
            </a:r>
          </a:p>
          <a:p xmlns:a="http://schemas.openxmlformats.org/drawingml/2006/main">
            <a:pPr algn="ctr">
              <a:defRPr sz="1800" b="0">
                <a:solidFill>
                  <a:srgbClr val="187D79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87D79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40" name="text-feedback-bend-0">
            <a:extLst xmlns:a="http://schemas.openxmlformats.org/drawingml/2006/main">
              <a:ext uri="{FF2B5EF4-FFF2-40B4-BE49-F238E27FC236}">
                <a16:creationId xmlns:a16="http://schemas.microsoft.com/office/drawing/2014/main" id="{6F4FB42F-3E9F-4747-9AB3-24FE77AD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9194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text-feedback-bend-1">
            <a:extLst xmlns:a="http://schemas.openxmlformats.org/drawingml/2006/main">
              <a:ext uri="{FF2B5EF4-FFF2-40B4-BE49-F238E27FC236}">
                <a16:creationId xmlns:a16="http://schemas.microsoft.com/office/drawing/2014/main" id="{A70827B1-0641-4B74-BF0D-56A2C145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3860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text-feedback-bend-2">
            <a:extLst xmlns:a="http://schemas.openxmlformats.org/drawingml/2006/main">
              <a:ext uri="{FF2B5EF4-FFF2-40B4-BE49-F238E27FC236}">
                <a16:creationId xmlns:a16="http://schemas.microsoft.com/office/drawing/2014/main" id="{32A0E05F-86AB-44DA-BA90-A0FBA50C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138" y="23860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text-feedback-bend-3">
            <a:extLst xmlns:a="http://schemas.openxmlformats.org/drawingml/2006/main">
              <a:ext uri="{FF2B5EF4-FFF2-40B4-BE49-F238E27FC236}">
                <a16:creationId xmlns:a16="http://schemas.microsoft.com/office/drawing/2014/main" id="{D87AF942-7D8B-4548-9C25-DF6B6928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138" y="31670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text-feedback-bend-4">
            <a:extLst xmlns:a="http://schemas.openxmlformats.org/drawingml/2006/main">
              <a:ext uri="{FF2B5EF4-FFF2-40B4-BE49-F238E27FC236}">
                <a16:creationId xmlns:a16="http://schemas.microsoft.com/office/drawing/2014/main" id="{0AF10A71-58F2-44C7-9C93-C04C8A45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088" y="31670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8" name=""/>
          <p:cNvCxnSpPr>
            <a:stCxn xmlns:a="http://schemas.openxmlformats.org/drawingml/2006/main" id="40" idx="0"/>
            <a:endCxn xmlns:a="http://schemas.openxmlformats.org/drawingml/2006/main" id="41" idx="2"/>
          </p:cNvCxnSpPr>
          <p:nvPr/>
        </p:nvCxnSpPr>
        <p:spPr>
          <a:xfrm xmlns:a="http://schemas.openxmlformats.org/drawingml/2006/main" flipV="1">
            <a:off x="9705976" y="2395538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650A4"/>
            </a:solidFill>
            <a:prstDash val="solid"/>
          </a:ln>
        </p:spPr>
      </p:cxnSp>
      <p:cxnSp>
        <p:nvCxnSpPr>
          <p:cNvPr id="109" name=""/>
          <p:cNvCxnSpPr>
            <a:stCxn xmlns:a="http://schemas.openxmlformats.org/drawingml/2006/main" id="41" idx="1"/>
            <a:endCxn xmlns:a="http://schemas.openxmlformats.org/drawingml/2006/main" id="42" idx="3"/>
          </p:cNvCxnSpPr>
          <p:nvPr/>
        </p:nvCxnSpPr>
        <p:spPr>
          <a:xfrm xmlns:a="http://schemas.openxmlformats.org/drawingml/2006/main" flipH="1">
            <a:off x="3776663" y="2390776"/>
            <a:ext cx="59245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650A4"/>
            </a:solidFill>
            <a:prstDash val="solid"/>
          </a:ln>
        </p:spPr>
      </p:cxnSp>
      <p:cxnSp>
        <p:nvCxnSpPr>
          <p:cNvPr id="110" name=""/>
          <p:cNvCxnSpPr>
            <a:stCxn xmlns:a="http://schemas.openxmlformats.org/drawingml/2006/main" id="42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3771901" y="2395538"/>
            <a:ext cx="0" cy="7715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650A4"/>
            </a:solidFill>
            <a:prstDash val="solid"/>
          </a:ln>
        </p:spPr>
      </p:cxnSp>
      <p:cxnSp>
        <p:nvCxnSpPr>
          <p:cNvPr id="111" name=""/>
          <p:cNvCxnSpPr>
            <a:stCxn xmlns:a="http://schemas.openxmlformats.org/drawingml/2006/main" id="43" idx="1"/>
            <a:endCxn xmlns:a="http://schemas.openxmlformats.org/drawingml/2006/main" id="44" idx="3"/>
          </p:cNvCxnSpPr>
          <p:nvPr/>
        </p:nvCxnSpPr>
        <p:spPr>
          <a:xfrm xmlns:a="http://schemas.openxmlformats.org/drawingml/2006/main" flipH="1">
            <a:off x="3376613" y="3171826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650A4"/>
            </a:solidFill>
            <a:prstDash val="solid"/>
            <a:tailEnd type="triangle" w="med" len="med"/>
          </a:ln>
        </p:spPr>
      </p:cxnSp>
      <p:sp>
        <p:nvSpPr>
          <p:cNvPr id="49" name="text-feedback-label">
            <a:extLst xmlns:a="http://schemas.openxmlformats.org/drawingml/2006/main">
              <a:ext uri="{FF2B5EF4-FFF2-40B4-BE49-F238E27FC236}">
                <a16:creationId xmlns:a16="http://schemas.microsoft.com/office/drawing/2014/main" id="{C4AD288D-6110-4B1C-A962-9A9D96FC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7167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6650A4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650A4"/>
                </a:solidFill>
                <a:latin typeface="PingFang SC"/>
                <a:ea typeface="PingFang SC"/>
                <a:cs typeface="PingFang SC"/>
              </a:rPr>
              <a:t>工具状态反馈与原生成功标志</a:t>
            </a:r>
          </a:p>
        </p:txBody>
      </p:sp>
      <p:sp>
        <p:nvSpPr>
          <p:cNvPr id="50" name="sensor-feedback-bend-0">
            <a:extLst xmlns:a="http://schemas.openxmlformats.org/drawingml/2006/main">
              <a:ext uri="{FF2B5EF4-FFF2-40B4-BE49-F238E27FC236}">
                <a16:creationId xmlns:a16="http://schemas.microsoft.com/office/drawing/2014/main" id="{20C2A075-3549-4F5E-B560-2CA65D0A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4530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1" name="sensor-feedback-bend-1">
            <a:extLst xmlns:a="http://schemas.openxmlformats.org/drawingml/2006/main">
              <a:ext uri="{FF2B5EF4-FFF2-40B4-BE49-F238E27FC236}">
                <a16:creationId xmlns:a16="http://schemas.microsoft.com/office/drawing/2014/main" id="{C02D08AA-6FDE-4CAF-ADCE-60602701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63674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sensor-feedback-bend-2">
            <a:extLst xmlns:a="http://schemas.openxmlformats.org/drawingml/2006/main">
              <a:ext uri="{FF2B5EF4-FFF2-40B4-BE49-F238E27FC236}">
                <a16:creationId xmlns:a16="http://schemas.microsoft.com/office/drawing/2014/main" id="{80B3AFC1-B415-4BDD-9F3F-77D15816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638" y="63674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sensor-feedback-bend-3">
            <a:extLst xmlns:a="http://schemas.openxmlformats.org/drawingml/2006/main">
              <a:ext uri="{FF2B5EF4-FFF2-40B4-BE49-F238E27FC236}">
                <a16:creationId xmlns:a16="http://schemas.microsoft.com/office/drawing/2014/main" id="{71C22D7E-2C33-4421-BA10-FBC89803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638" y="54530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17" name=""/>
          <p:cNvCxnSpPr>
            <a:stCxn xmlns:a="http://schemas.openxmlformats.org/drawingml/2006/main" id="50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13301663" y="5462588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76B9F"/>
            </a:solidFill>
            <a:prstDash val="solid"/>
          </a:ln>
        </p:spPr>
      </p:cxnSp>
      <p:cxnSp>
        <p:nvCxnSpPr>
          <p:cNvPr id="118" name=""/>
          <p:cNvCxnSpPr>
            <a:stCxn xmlns:a="http://schemas.openxmlformats.org/drawingml/2006/main" id="51" idx="1"/>
            <a:endCxn xmlns:a="http://schemas.openxmlformats.org/drawingml/2006/main" id="52" idx="3"/>
          </p:cNvCxnSpPr>
          <p:nvPr/>
        </p:nvCxnSpPr>
        <p:spPr>
          <a:xfrm xmlns:a="http://schemas.openxmlformats.org/drawingml/2006/main" flipH="1">
            <a:off x="5872163" y="6372226"/>
            <a:ext cx="7424737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76B9F"/>
            </a:solidFill>
            <a:prstDash val="solid"/>
          </a:ln>
        </p:spPr>
      </p:cxnSp>
      <p:cxnSp>
        <p:nvCxnSpPr>
          <p:cNvPr id="119" name=""/>
          <p:cNvCxnSpPr>
            <a:stCxn xmlns:a="http://schemas.openxmlformats.org/drawingml/2006/main" id="52" idx="0"/>
            <a:endCxn xmlns:a="http://schemas.openxmlformats.org/drawingml/2006/main" id="53" idx="2"/>
          </p:cNvCxnSpPr>
          <p:nvPr/>
        </p:nvCxnSpPr>
        <p:spPr>
          <a:xfrm xmlns:a="http://schemas.openxmlformats.org/drawingml/2006/main" flipV="1">
            <a:off x="5867401" y="5462588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76B9F"/>
            </a:solidFill>
            <a:prstDash val="solid"/>
            <a:tailEnd type="triangle" w="med" len="med"/>
          </a:ln>
        </p:spPr>
      </p:cxnSp>
      <p:sp>
        <p:nvSpPr>
          <p:cNvPr id="57" name="sensor-feedback-label">
            <a:extLst xmlns:a="http://schemas.openxmlformats.org/drawingml/2006/main">
              <a:ext uri="{FF2B5EF4-FFF2-40B4-BE49-F238E27FC236}">
                <a16:creationId xmlns:a16="http://schemas.microsoft.com/office/drawing/2014/main" id="{3C183CBC-1EDB-4387-8F6E-41F3385D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81025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6B9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6B9F"/>
                </a:solidFill>
                <a:latin typeface="PingFang SC"/>
                <a:ea typeface="PingFang SC"/>
                <a:cs typeface="PingFang SC"/>
              </a:rPr>
              <a:t>双视角 RGB + 8 维 state</a:t>
            </a:r>
          </a:p>
        </p:txBody>
      </p:sp>
      <p:sp>
        <p:nvSpPr>
          <p:cNvPr id="58" name="sensor-feedback-cycle">
            <a:extLst xmlns:a="http://schemas.openxmlformats.org/drawingml/2006/main">
              <a:ext uri="{FF2B5EF4-FFF2-40B4-BE49-F238E27FC236}">
                <a16:creationId xmlns:a16="http://schemas.microsoft.com/office/drawing/2014/main" id="{7F1D3BA6-D3EE-4B8A-B26E-2C1702BE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62103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6B9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76B9F"/>
                </a:solidFill>
                <a:latin typeface="PingFang SC"/>
                <a:ea typeface="PingFang SC"/>
                <a:cs typeface="PingFang SC"/>
              </a:rPr>
              <a:t>每步刷新观测，每执行 5 步重新推理</a:t>
            </a:r>
          </a:p>
        </p:txBody>
      </p:sp>
      <p:sp>
        <p:nvSpPr>
          <p:cNvPr id="59" name="state-definition">
            <a:extLst xmlns:a="http://schemas.openxmlformats.org/drawingml/2006/main">
              <a:ext uri="{FF2B5EF4-FFF2-40B4-BE49-F238E27FC236}">
                <a16:creationId xmlns:a16="http://schemas.microsoft.com/office/drawing/2014/main" id="{7451E960-D26A-43A1-876A-79A70CA2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6610350"/>
            <a:ext cx="1033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86B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86B7A"/>
                </a:solidFill>
                <a:latin typeface="PingFang SC"/>
                <a:ea typeface="PingFang SC"/>
                <a:cs typeface="PingFang SC"/>
              </a:rPr>
              <a:t>state：末端位置 3 + 轴角 3 + 夹爪主动关节 2</a:t>
            </a:r>
          </a:p>
        </p:txBody>
      </p:sp>
      <p:sp>
        <p:nvSpPr>
          <p:cNvPr id="60" name="evidence-rule">
            <a:extLst xmlns:a="http://schemas.openxmlformats.org/drawingml/2006/main">
              <a:ext uri="{FF2B5EF4-FFF2-40B4-BE49-F238E27FC236}">
                <a16:creationId xmlns:a16="http://schemas.microsoft.com/office/drawing/2014/main" id="{AAB5A678-13E8-4DCE-9D7A-0C214776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771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BC6CF"/>
            </a:solidFill>
            <a:prstDash val="solid"/>
          </a:ln>
        </p:spPr>
      </p:sp>
      <p:sp>
        <p:nvSpPr>
          <p:cNvPr id="61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B5E88EF8-2EB1-44B4-95FE-D7592E8B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485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E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72E42"/>
                </a:solidFill>
                <a:latin typeface="PingFang SC"/>
                <a:ea typeface="PingFang SC"/>
                <a:cs typeface="PingFang SC"/>
              </a:rPr>
              <a:t>全过程留痕</a:t>
            </a:r>
          </a:p>
        </p:txBody>
      </p:sp>
      <p:sp>
        <p:nvSpPr>
          <p:cNvPr id="62" name="evidence-content">
            <a:extLst xmlns:a="http://schemas.openxmlformats.org/drawingml/2006/main">
              <a:ext uri="{FF2B5EF4-FFF2-40B4-BE49-F238E27FC236}">
                <a16:creationId xmlns:a16="http://schemas.microsoft.com/office/drawing/2014/main" id="{42659F36-8042-47EB-A98F-19B7151D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7448550"/>
            <a:ext cx="11915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B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86B7A"/>
                </a:solidFill>
                <a:latin typeface="PingFang SC"/>
                <a:ea typeface="PingFang SC"/>
                <a:cs typeface="PingFang SC"/>
              </a:rPr>
              <a:t>规划对话与工具日志    模型输入及动作预测    轨迹审计与双视角 MP4</a:t>
            </a:r>
          </a:p>
        </p:txBody>
      </p:sp>
      <p:sp>
        <p:nvSpPr>
          <p:cNvPr id="63" name="scope">
            <a:extLst xmlns:a="http://schemas.openxmlformats.org/drawingml/2006/main">
              <a:ext uri="{FF2B5EF4-FFF2-40B4-BE49-F238E27FC236}">
                <a16:creationId xmlns:a16="http://schemas.microsoft.com/office/drawing/2014/main" id="{1C4C46A1-5FCE-4066-A7D0-7F70D14F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58150"/>
            <a:ext cx="1402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B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86B7A"/>
                </a:solidFill>
                <a:latin typeface="PingFang SC"/>
                <a:ea typeface="PingFang SC"/>
                <a:cs typeface="PingFang SC"/>
              </a:rPr>
              <a:t>当前为 LIBERO / MuJoCo 仿真闭环，原模型未微调，实机适配尚未验证</a:t>
            </a:r>
          </a:p>
        </p:txBody>
      </p:sp>
    </p:spTree>
    <p:extLst>
      <p:ext uri="{BB962C8B-B14F-4D97-AF65-F5344CB8AC3E}">
        <p14:creationId xmlns:p14="http://schemas.microsoft.com/office/powerpoint/2010/main" val="11063212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2026-10-08T08:40:14.8680000Z</dcterms:created>
  <dcterms:modified xsi:type="dcterms:W3CDTF">2026-10-08T08:40:14.8680000Z</dcterms:modified>
</coreProperties>
</file>